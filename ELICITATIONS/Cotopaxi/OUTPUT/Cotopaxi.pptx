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4.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3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7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7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7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7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latin typeface="Helvetica"/>
              </a:defRPr>
            </a:pPr>
            <a:r>
              <a:t>Expert elicitation - Cotopaxi</a:t>
            </a:r>
          </a:p>
        </p:txBody>
      </p:sp>
      <p:sp>
        <p:nvSpPr>
          <p:cNvPr id="3" name="Subtitle 2"/>
          <p:cNvSpPr>
            <a:spLocks noGrp="1"/>
          </p:cNvSpPr>
          <p:nvPr>
            <p:ph type="subTitle" idx="1"/>
          </p:nvPr>
        </p:nvSpPr>
        <p:spPr/>
        <p:txBody>
          <a:bodyPr/>
          <a:lstStyle/>
          <a:p>
            <a:pPr>
              <a:defRPr>
                <a:latin typeface="Helvetica"/>
              </a:defRPr>
            </a:pPr>
            <a:r>
              <a:t>27-Oct-2026</a:t>
            </a:r>
          </a:p>
        </p:txBody>
      </p:sp>
      <p:pic>
        <p:nvPicPr>
          <p:cNvPr id="4" name="Picture 3" descr="logo.png"/>
          <p:cNvPicPr>
            <a:picLocks noChangeAspect="1"/>
          </p:cNvPicPr>
          <p:nvPr/>
        </p:nvPicPr>
        <p:blipFill>
          <a:blip r:embed="rId2"/>
          <a:stretch>
            <a:fillRect/>
          </a:stretch>
        </p:blipFill>
        <p:spPr>
          <a:xfrm>
            <a:off x="12161520" y="6309360"/>
            <a:ext cx="2194560" cy="169492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Experts' weights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Experts' weights</a:t>
            </a:r>
          </a:p>
        </p:txBody>
      </p:sp>
      <p:graphicFrame>
        <p:nvGraphicFramePr>
          <p:cNvPr id="3" name="Table 2"/>
          <p:cNvGraphicFramePr>
            <a:graphicFrameLocks noGrp="1"/>
          </p:cNvGraphicFramePr>
          <p:nvPr/>
        </p:nvGraphicFramePr>
        <p:xfrm>
          <a:off x="1828800" y="1554480"/>
          <a:ext cx="7315200" cy="SHAPE_TO_FIT_TEXT (1)"/>
        </p:xfrm>
        <a:graphic>
          <a:graphicData uri="http://schemas.openxmlformats.org/drawingml/2006/table">
            <a:tbl>
              <a:tblPr firstRow="1" bandRow="1">
                <a:tableStyleId>{5C22544A-7EE6-4342-B048-85BDC9FD1C3A}</a:tableStyleId>
              </a:tblPr>
              <a:tblGrid>
                <a:gridCol w="3657600"/>
                <a:gridCol w="3657600"/>
              </a:tblGrid>
              <a:tr h="0">
                <a:tc>
                  <a:txBody>
                    <a:bodyPr/>
                    <a:lstStyle/>
                    <a:p>
                      <a:r>
                        <a:rPr sz="1200"/>
                        <a:t>Expert ID</a:t>
                      </a:r>
                    </a:p>
                  </a:txBody>
                  <a:tcPr/>
                </a:tc>
                <a:tc>
                  <a:txBody>
                    <a:bodyPr/>
                    <a:lstStyle/>
                    <a:p>
                      <a:r>
                        <a:rPr sz="1200"/>
                        <a:t>Cooke</a:t>
                      </a:r>
                    </a:p>
                  </a:txBody>
                  <a:tcPr/>
                </a:tc>
              </a:tr>
              <a:tr h="0">
                <a:tc>
                  <a:txBody>
                    <a:bodyPr/>
                    <a:lstStyle/>
                    <a:p>
                      <a:r>
                        <a:rPr sz="1200"/>
                        <a:t>Exp1</a:t>
                      </a:r>
                    </a:p>
                  </a:txBody>
                  <a:tcPr/>
                </a:tc>
                <a:tc>
                  <a:txBody>
                    <a:bodyPr/>
                    <a:lstStyle/>
                    <a:p>
                      <a:r>
                        <a:rPr sz="1200"/>
                        <a:t> 21.26</a:t>
                      </a:r>
                    </a:p>
                  </a:txBody>
                  <a:tcPr/>
                </a:tc>
              </a:tr>
              <a:tr h="0">
                <a:tc>
                  <a:txBody>
                    <a:bodyPr/>
                    <a:lstStyle/>
                    <a:p>
                      <a:r>
                        <a:rPr sz="1200"/>
                        <a:t>Exp2</a:t>
                      </a:r>
                    </a:p>
                  </a:txBody>
                  <a:tcPr/>
                </a:tc>
                <a:tc>
                  <a:txBody>
                    <a:bodyPr/>
                    <a:lstStyle/>
                    <a:p>
                      <a:r>
                        <a:rPr sz="1200"/>
                        <a:t>  1.68</a:t>
                      </a:r>
                    </a:p>
                  </a:txBody>
                  <a:tcPr/>
                </a:tc>
              </a:tr>
              <a:tr h="0">
                <a:tc>
                  <a:txBody>
                    <a:bodyPr/>
                    <a:lstStyle/>
                    <a:p>
                      <a:r>
                        <a:rPr sz="1200"/>
                        <a:t>Exp3</a:t>
                      </a:r>
                    </a:p>
                  </a:txBody>
                  <a:tcPr/>
                </a:tc>
                <a:tc>
                  <a:txBody>
                    <a:bodyPr/>
                    <a:lstStyle/>
                    <a:p>
                      <a:r>
                        <a:rPr sz="1200"/>
                        <a:t>Below threshold</a:t>
                      </a:r>
                    </a:p>
                  </a:txBody>
                  <a:tcPr/>
                </a:tc>
              </a:tr>
              <a:tr h="0">
                <a:tc>
                  <a:txBody>
                    <a:bodyPr/>
                    <a:lstStyle/>
                    <a:p>
                      <a:r>
                        <a:rPr sz="1200"/>
                        <a:t>Exp4</a:t>
                      </a:r>
                    </a:p>
                  </a:txBody>
                  <a:tcPr/>
                </a:tc>
                <a:tc>
                  <a:txBody>
                    <a:bodyPr/>
                    <a:lstStyle/>
                    <a:p>
                      <a:r>
                        <a:rPr sz="1200"/>
                        <a:t> 20.31</a:t>
                      </a:r>
                    </a:p>
                  </a:txBody>
                  <a:tcPr/>
                </a:tc>
              </a:tr>
              <a:tr h="0">
                <a:tc>
                  <a:txBody>
                    <a:bodyPr/>
                    <a:lstStyle/>
                    <a:p>
                      <a:r>
                        <a:rPr sz="1200"/>
                        <a:t>Exp5</a:t>
                      </a:r>
                    </a:p>
                  </a:txBody>
                  <a:tcPr/>
                </a:tc>
                <a:tc>
                  <a:txBody>
                    <a:bodyPr/>
                    <a:lstStyle/>
                    <a:p>
                      <a:r>
                        <a:rPr sz="1200"/>
                        <a:t>  8.13</a:t>
                      </a:r>
                    </a:p>
                  </a:txBody>
                  <a:tcPr/>
                </a:tc>
              </a:tr>
              <a:tr h="0">
                <a:tc>
                  <a:txBody>
                    <a:bodyPr/>
                    <a:lstStyle/>
                    <a:p>
                      <a:r>
                        <a:rPr sz="1200"/>
                        <a:t>Exp6</a:t>
                      </a:r>
                    </a:p>
                  </a:txBody>
                  <a:tcPr/>
                </a:tc>
                <a:tc>
                  <a:txBody>
                    <a:bodyPr/>
                    <a:lstStyle/>
                    <a:p>
                      <a:r>
                        <a:rPr sz="1200"/>
                        <a:t> 11.32</a:t>
                      </a:r>
                    </a:p>
                  </a:txBody>
                  <a:tcPr/>
                </a:tc>
              </a:tr>
              <a:tr h="0">
                <a:tc>
                  <a:txBody>
                    <a:bodyPr/>
                    <a:lstStyle/>
                    <a:p>
                      <a:r>
                        <a:rPr sz="1200"/>
                        <a:t>Exp7</a:t>
                      </a:r>
                    </a:p>
                  </a:txBody>
                  <a:tcPr/>
                </a:tc>
                <a:tc>
                  <a:txBody>
                    <a:bodyPr/>
                    <a:lstStyle/>
                    <a:p>
                      <a:r>
                        <a:rPr sz="1200"/>
                        <a:t>Below threshold</a:t>
                      </a:r>
                    </a:p>
                  </a:txBody>
                  <a:tcPr/>
                </a:tc>
              </a:tr>
              <a:tr h="0">
                <a:tc>
                  <a:txBody>
                    <a:bodyPr/>
                    <a:lstStyle/>
                    <a:p>
                      <a:r>
                        <a:rPr sz="1200"/>
                        <a:t>Exp8</a:t>
                      </a:r>
                    </a:p>
                  </a:txBody>
                  <a:tcPr/>
                </a:tc>
                <a:tc>
                  <a:txBody>
                    <a:bodyPr/>
                    <a:lstStyle/>
                    <a:p>
                      <a:r>
                        <a:rPr sz="1200"/>
                        <a:t>  2.86</a:t>
                      </a:r>
                    </a:p>
                  </a:txBody>
                  <a:tcPr/>
                </a:tc>
              </a:tr>
              <a:tr h="0">
                <a:tc>
                  <a:txBody>
                    <a:bodyPr/>
                    <a:lstStyle/>
                    <a:p>
                      <a:r>
                        <a:rPr sz="1200"/>
                        <a:t>Exp9</a:t>
                      </a:r>
                    </a:p>
                  </a:txBody>
                  <a:tcPr/>
                </a:tc>
                <a:tc>
                  <a:txBody>
                    <a:bodyPr/>
                    <a:lstStyle/>
                    <a:p>
                      <a:r>
                        <a:rPr sz="1200"/>
                        <a:t>Below threshold</a:t>
                      </a:r>
                    </a:p>
                  </a:txBody>
                  <a:tcPr/>
                </a:tc>
              </a:tr>
              <a:tr h="0">
                <a:tc>
                  <a:txBody>
                    <a:bodyPr/>
                    <a:lstStyle/>
                    <a:p>
                      <a:r>
                        <a:rPr sz="1200"/>
                        <a:t>Exp10</a:t>
                      </a:r>
                    </a:p>
                  </a:txBody>
                  <a:tcPr/>
                </a:tc>
                <a:tc>
                  <a:txBody>
                    <a:bodyPr/>
                    <a:lstStyle/>
                    <a:p>
                      <a:r>
                        <a:rPr sz="1200"/>
                        <a:t> 18.97</a:t>
                      </a:r>
                    </a:p>
                  </a:txBody>
                  <a:tcPr/>
                </a:tc>
              </a:tr>
              <a:tr h="0">
                <a:tc>
                  <a:txBody>
                    <a:bodyPr/>
                    <a:lstStyle/>
                    <a:p>
                      <a:r>
                        <a:rPr sz="1200"/>
                        <a:t>Exp11</a:t>
                      </a:r>
                    </a:p>
                  </a:txBody>
                  <a:tcPr/>
                </a:tc>
                <a:tc>
                  <a:txBody>
                    <a:bodyPr/>
                    <a:lstStyle/>
                    <a:p>
                      <a:r>
                        <a:rPr sz="1200"/>
                        <a:t>  5.95</a:t>
                      </a:r>
                    </a:p>
                  </a:txBody>
                  <a:tcPr/>
                </a:tc>
              </a:tr>
              <a:tr h="0">
                <a:tc>
                  <a:txBody>
                    <a:bodyPr/>
                    <a:lstStyle/>
                    <a:p>
                      <a:r>
                        <a:rPr sz="1200"/>
                        <a:t>Exp12</a:t>
                      </a:r>
                    </a:p>
                  </a:txBody>
                  <a:tcPr/>
                </a:tc>
                <a:tc>
                  <a:txBody>
                    <a:bodyPr/>
                    <a:lstStyle/>
                    <a:p>
                      <a:r>
                        <a:rPr sz="1200"/>
                        <a:t>  4.23</a:t>
                      </a:r>
                    </a:p>
                  </a:txBody>
                  <a:tcPr/>
                </a:tc>
              </a:tr>
              <a:tr h="0">
                <a:tc>
                  <a:txBody>
                    <a:bodyPr/>
                    <a:lstStyle/>
                    <a:p>
                      <a:r>
                        <a:rPr sz="1200"/>
                        <a:t>Exp13</a:t>
                      </a:r>
                    </a:p>
                  </a:txBody>
                  <a:tcPr/>
                </a:tc>
                <a:tc>
                  <a:txBody>
                    <a:bodyPr/>
                    <a:lstStyle/>
                    <a:p>
                      <a:r>
                        <a:rPr sz="1200"/>
                        <a:t>Below threshold</a:t>
                      </a:r>
                    </a:p>
                  </a:txBody>
                  <a:tcPr/>
                </a:tc>
              </a:tr>
              <a:tr h="0">
                <a:tc>
                  <a:txBody>
                    <a:bodyPr/>
                    <a:lstStyle/>
                    <a:p>
                      <a:r>
                        <a:rPr sz="1200"/>
                        <a:t>Exp14</a:t>
                      </a:r>
                    </a:p>
                  </a:txBody>
                  <a:tcPr/>
                </a:tc>
                <a:tc>
                  <a:txBody>
                    <a:bodyPr/>
                    <a:lstStyle/>
                    <a:p>
                      <a:r>
                        <a:rPr sz="1200"/>
                        <a:t>Below threshold</a:t>
                      </a:r>
                    </a:p>
                  </a:txBody>
                  <a:tcPr/>
                </a:tc>
              </a:tr>
              <a:tr h="0">
                <a:tc>
                  <a:txBody>
                    <a:bodyPr/>
                    <a:lstStyle/>
                    <a:p>
                      <a:r>
                        <a:rPr sz="1200"/>
                        <a:t>Exp15</a:t>
                      </a:r>
                    </a:p>
                  </a:txBody>
                  <a:tcPr/>
                </a:tc>
                <a:tc>
                  <a:txBody>
                    <a:bodyPr/>
                    <a:lstStyle/>
                    <a:p>
                      <a:r>
                        <a:rPr sz="1200"/>
                        <a:t>Below threshold</a:t>
                      </a:r>
                    </a:p>
                  </a:txBody>
                  <a:tcPr/>
                </a:tc>
              </a:tr>
              <a:tr h="0">
                <a:tc>
                  <a:txBody>
                    <a:bodyPr/>
                    <a:lstStyle/>
                    <a:p>
                      <a:r>
                        <a:rPr sz="1200"/>
                        <a:t>Exp16</a:t>
                      </a:r>
                    </a:p>
                  </a:txBody>
                  <a:tcPr/>
                </a:tc>
                <a:tc>
                  <a:txBody>
                    <a:bodyPr/>
                    <a:lstStyle/>
                    <a:p>
                      <a:r>
                        <a:rPr sz="1200"/>
                        <a:t>Below threshold</a:t>
                      </a:r>
                    </a:p>
                  </a:txBody>
                  <a:tcPr/>
                </a:tc>
              </a:tr>
              <a:tr h="1">
                <a:tc>
                  <a:txBody>
                    <a:bodyPr/>
                    <a:lstStyle/>
                    <a:p>
                      <a:r>
                        <a:rPr sz="1200"/>
                        <a:t>Exp17</a:t>
                      </a:r>
                    </a:p>
                  </a:txBody>
                  <a:tcPr/>
                </a:tc>
                <a:tc>
                  <a:txBody>
                    <a:bodyPr/>
                    <a:lstStyle/>
                    <a:p>
                      <a:r>
                        <a:rPr sz="1200"/>
                        <a:t>  5.30</a:t>
                      </a:r>
                    </a:p>
                  </a:txBody>
                  <a:tcPr/>
                </a:tc>
              </a:tr>
            </a:tbl>
          </a:graphicData>
        </a:graphic>
      </p:graphicFrame>
      <p:sp>
        <p:nvSpPr>
          <p:cNvPr id="4" name="TextBox 3"/>
          <p:cNvSpPr txBox="1"/>
          <p:nvPr/>
        </p:nvSpPr>
        <p:spPr>
          <a:xfrm>
            <a:off x="10058400" y="2286000"/>
            <a:ext cx="3657600" cy="4572000"/>
          </a:xfrm>
          <a:prstGeom prst="rect">
            <a:avLst/>
          </a:prstGeom>
          <a:noFill/>
        </p:spPr>
        <p:txBody>
          <a:bodyPr wrap="square">
            <a:spAutoFit/>
          </a:bodyPr>
          <a:lstStyle/>
          <a:p>
            <a:pPr>
              <a:defRPr sz="1800"/>
            </a:pPr>
            <a:r>
              <a:t>Equal weight = 5.88</a:t>
            </a:r>
          </a:p>
        </p:txBody>
      </p:sp>
      <p:sp>
        <p:nvSpPr>
          <p:cNvPr id="5" name="TextBox 4"/>
          <p:cNvSpPr txBox="1"/>
          <p:nvPr/>
        </p:nvSpPr>
        <p:spPr>
          <a:xfrm>
            <a:off x="10058400" y="3200400"/>
            <a:ext cx="3657600" cy="4572000"/>
          </a:xfrm>
          <a:prstGeom prst="rect">
            <a:avLst/>
          </a:prstGeom>
          <a:noFill/>
        </p:spPr>
        <p:txBody>
          <a:bodyPr wrap="square">
            <a:spAutoFit/>
          </a:bodyPr>
          <a:lstStyle/>
          <a:p>
            <a:pPr>
              <a:defRPr sz="1800"/>
            </a:pPr>
            <a:r>
              <a:t>For Cookes' method, below threshold weight does not mean zero score. It simply means that this expert's knowledge was already contributed by other experts and adding this expert would not change significantly the results.</a:t>
            </a:r>
          </a:p>
        </p:txBody>
      </p:sp>
      <p:sp>
        <p:nvSpPr>
          <p:cNvPr id="6" name="Rectangle 5"/>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7" name="Picture 6"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Seed Answers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Elevation of Cotopaxi</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What is the elevation (in m a.s.l.) of the Cotopaxi volcano? (Data source: GVP database [2018])</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People living close to Guagua Pichincha</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According to the GVP database [2018], how many people live within a radius of 30 km from the crater of the Guagua Pichincha volcano?</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Percentage of VEI4+ eruptions at Cotopaxi</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your knowledge of the frequency of activity over the past ~4 ka at Cotopaxi volcano and based on the total number of eruptions (76) for which a VEI index has been estimated, what percentage were VEI 4 or higher eruptions?  (Data source: GVP database [2018])</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Mean area of 10 cm isopach for Plinian eruptions at Cotopaxi</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Robin et al. [2008] derived from field data the isopach maps of the fallout deposits from the three Plinian eruptions (1660 AD, 970 AD and 70 AD) at Guagua Pichincha volcano. What is the mean surface area (in km2) enclosed by the 10 cm isopach lines of the fallout deposits? (e.g., the three surface areas of the corresponding 10 cm isopach for the three eruptions are, respectively, 2000, 300 and 10000 km2, the mean value is therefore 4100 km2)</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5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Mean relative uncertainty of eruption duration for Layers 3-5 at Cotopaxi</a:t>
            </a:r>
          </a:p>
        </p:txBody>
      </p:sp>
      <p:sp>
        <p:nvSpPr>
          <p:cNvPr id="3" name="TextBox 2"/>
          <p:cNvSpPr txBox="1"/>
          <p:nvPr/>
        </p:nvSpPr>
        <p:spPr>
          <a:xfrm>
            <a:off x="914400" y="1828800"/>
            <a:ext cx="3657600" cy="4572000"/>
          </a:xfrm>
          <a:prstGeom prst="rect">
            <a:avLst/>
          </a:prstGeom>
          <a:noFill/>
        </p:spPr>
        <p:txBody>
          <a:bodyPr wrap="square">
            <a:spAutoFit/>
          </a:bodyPr>
          <a:lstStyle/>
          <a:p>
            <a:pPr>
              <a:defRPr sz="1436"/>
            </a:pPr>
            <a:r>
              <a:t>Biass and Bonadonna (2011) quantified the uncertainty associated with the estimation of eruption durations for past eruptions: they applied different methodologies (empirical and analytical) for calculating total mass and MFR, and they quantified the propagation of uncertainty up to the final estimation of eruption duration (total mass/MFR). In this way, they calculated such parameters for the Plinian eruptions of Layer 3 and Layer 5 of Cotopaxi volcano. What is the mean relative uncertainty (in %) with respect to the calculations of eruption duration for Layers 3 and 5 made by Biass and Bonadonna (2011)? (example: two estimations have values of 500±5 minutes and 350±150 minutes; the two relative uncertainties are [5/500]*100=1% and [150/350]*100=42.8% and the mean is 21.9%)</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6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Total SO2 production from Tungurahua at 14/07/2006</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Carn et al. [2008] measured the daily emission of SO2 from active volcanoes in Ecuador between September 2004 and September 2006 from the Ozone Monitoring Instrument (OMI) on NASA's EOS/Aura satellite. How much was the total SO2 production (in ktons) of the 14/07/2006 eruptive event of Tungurahua (duration 1 day)?</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7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Mean elongation direction of fallout deposits for Plinian eruption at Cotopaxi</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What is the mean direction (in degrees from N) of the axis of main elongation of the isopachs (i.e. the downwind range) of the F2, F4, Layer 3 and Layer 5 plinian fall deposits at Cotopaxi volcano, described in Hall and Mothes [2008] and Barberi et al. [1995]?</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8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Volumetric percentage of andesites at Cotopaxi (last 0.5 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With respect to the calculations of Hall and Mothes [2008], what is the percentage (volumetrically) of volcanic products of andesitic composition with respect to the total amount of material erupted over the past 0.5 Ma at Cotopaxi volcano?</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09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Average amount of ash in BF2 layer of Pululagua</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Volentik et al. [2010] calculated the Total Grain Size Distribution for the climactic phase of the 2450 BP Plinian eruption of Pululagua volcano (BF2 layer) using different techniques and datasets. According to their calculations, what is the average amount (in wt%) of ash (D &lt; 2mm) in this layer?</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10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Total volume of lava flow deposits of the 2002 eruption of Reventador</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The complex sub-Plinian to Plinian 2002 eruption of El Reventador produced different types of volcanic deposits (tephra fall, PDC and lava flows). What is the total volume (in m3) of lava flow deposits? (Sources: Johnson et al. [2006]; Ridolfi et al. [2008])</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1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Mean difference between min-max estimation of Terminal Fall Velocity</a:t>
            </a:r>
          </a:p>
        </p:txBody>
      </p:sp>
      <p:sp>
        <p:nvSpPr>
          <p:cNvPr id="3" name="TextBox 2"/>
          <p:cNvSpPr txBox="1"/>
          <p:nvPr/>
        </p:nvSpPr>
        <p:spPr>
          <a:xfrm>
            <a:off x="914400" y="1828800"/>
            <a:ext cx="3657600" cy="4572000"/>
          </a:xfrm>
          <a:prstGeom prst="rect">
            <a:avLst/>
          </a:prstGeom>
          <a:noFill/>
        </p:spPr>
        <p:txBody>
          <a:bodyPr wrap="square">
            <a:spAutoFit/>
          </a:bodyPr>
          <a:lstStyle/>
          <a:p>
            <a:pPr>
              <a:defRPr sz="1628"/>
            </a:pPr>
            <a:r>
              <a:t>Terminal Fall Velocity (TFV) is a parameter that strongly controls particle sedimentation, and various models for calculating this parameter have been proposed. Alfano et al. [2011] compared alternative existing models and different morphological characterizations of particles for the calculation of TFV of tephra particles from various eruptions. According to their results, what is the mean difference (in %) between the maximum and the minimum estimates of TFV for the grain size φ = -1 (2 mm) for tephra particles of Fontana Lapilli deposit from the basaltic Plinian eruption of Masaya volcano (Nicaragua)?</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1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Mean wt% of Na2O+K2O of Guagua Pichincha products (last 55 ka years)</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What is the mean content (in weight %) of Na2O+K2O of the volcanic products of the Guagua Pichincha volcano from the last 55 ka years, as reported in Chiaradia et al. [2009]</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1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Mean difference between min-max estimation of plume heights for the August 2006 eruption at Tungurahua</a:t>
            </a:r>
          </a:p>
        </p:txBody>
      </p:sp>
      <p:sp>
        <p:nvSpPr>
          <p:cNvPr id="3" name="TextBox 2"/>
          <p:cNvSpPr txBox="1"/>
          <p:nvPr/>
        </p:nvSpPr>
        <p:spPr>
          <a:xfrm>
            <a:off x="914400" y="1828800"/>
            <a:ext cx="3657600" cy="4572000"/>
          </a:xfrm>
          <a:prstGeom prst="rect">
            <a:avLst/>
          </a:prstGeom>
          <a:noFill/>
        </p:spPr>
        <p:txBody>
          <a:bodyPr wrap="square">
            <a:spAutoFit/>
          </a:bodyPr>
          <a:lstStyle/>
          <a:p>
            <a:pPr>
              <a:defRPr sz="1702"/>
            </a:pPr>
            <a:r>
              <a:t>For the calculation of volcanic plume heights without using field deposit data, several techniques are presently available. Among them, Steffke et al. [2010] used the velocity determination and plume top temperature (PTT) models to calculate the plume heights (above vent level) of the most recent eruptions at Tungurahua volcano. What is the mean difference (in m) between the minimum and the maximum estimation of plume heights (above vent level) for the whole August 2006 eruption (25 measurements every 30 min; period 16/08/2006 20:15 – 17/08/2006 11:15)?</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Cotopaxi_Seed_1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Mean value of porosity for 1999 eruption of Guagua Pichincha</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Wright et al. [2007] measured the values of connected porosity (i.e. the volumetric part of the sample through which gases and/or liquids can freely flow) for 9 breadcrust bombs from the 1999 vulcanian eruption of Guagua Pichincha volcano. What is the mean value of connected porosity (in %) of the samples studied?</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Answers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1.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1.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eruption, rhyolitic magma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735"/>
            </a:pPr>
            <a:r>
              <a:t>Given the present state of Cotopaxi volcano and your knowledge of its past eruptive chronology, how much probability do you assign to the possibility that, for the next eruption at Cotopaxi, the magma involved would be totally or predominantly of rhyolitic composition?</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1-2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2.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2.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eruption, andesitic magma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735"/>
            </a:pPr>
            <a:r>
              <a:t>Given the present state of Cotopaxi volcano and your knowledge of its past eruptive chronology, how much probability do you assign to the possibility that, for the next eruption at Cotopaxi, the magma involved would be totally or predominantly of andesitic composition?</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1-2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3.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3.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rhyolitic magma, SubPlinian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648"/>
            </a:pPr>
            <a:r>
              <a:t>Given the present state of Cotopaxi volcano and your knowledge of its past eruptive chronology, how much probability do you assign to the possibility that at Cotopaxi, in case that the next eruption would involve totally or predominantly rhyolitic magma, the eruption would be SubPlinian (VEI 3-4)?</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3-5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4.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4.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eruption, rhyolitic magma, 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581"/>
            </a:pPr>
            <a:r>
              <a:t>Given the present state of Cotopaxi volcano and your knowledge of its past eruptive chronology, how much probability do you assign to the possibility that at Cotopaxi, in case that the next eruption would involve totally or predominantly rhyolitic magma, the eruption would be similar to the F-2/F-4 ones (Plinian, VEI 4-5)?</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3-5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5.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5.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5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rhyolitic magma, other eruption type</a:t>
            </a:r>
          </a:p>
        </p:txBody>
      </p:sp>
      <p:sp>
        <p:nvSpPr>
          <p:cNvPr id="3" name="TextBox 2"/>
          <p:cNvSpPr txBox="1"/>
          <p:nvPr/>
        </p:nvSpPr>
        <p:spPr>
          <a:xfrm>
            <a:off x="914400" y="1828800"/>
            <a:ext cx="3657600" cy="4572000"/>
          </a:xfrm>
          <a:prstGeom prst="rect">
            <a:avLst/>
          </a:prstGeom>
          <a:noFill/>
        </p:spPr>
        <p:txBody>
          <a:bodyPr wrap="square">
            <a:spAutoFit/>
          </a:bodyPr>
          <a:lstStyle/>
          <a:p>
            <a:pPr>
              <a:defRPr sz="1569"/>
            </a:pPr>
            <a:r>
              <a:t>Given the present state of Cotopaxi volcano and your knowledge of its past eruptive chronology, how much probability do you assign to the possibility that at Cotopaxi, in case that the next eruption would involve totally or predominantly rhyolitic magma, the eruption would be of different type with respect to the previous ones?</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3-5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6.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6.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6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andesitic magma, Hydrovolcanic/Continuos ash emission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504"/>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similar to the AD 2015 one (Hydrovolcanic to long-lasting ash emission, VEI 1-2)?</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6-10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7.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7.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7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andesitic magma, Violent Strombolian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527"/>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similar to the ones in the XIX century (Violent Strombolian, VEI 2-3)?</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6-10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8.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8.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8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andesitic magma, SubPlinian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576"/>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similar to the AD 1877 one (SubPlinian, VEI 3-4)?</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6-10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09.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09.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09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eruption, andesitic magma, 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573"/>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similar to the Layers 3/5 ones (Plinian, VEI 4-5)?</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6-10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0.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0.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0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andesitic magma, other eruption type</a:t>
            </a:r>
          </a:p>
        </p:txBody>
      </p:sp>
      <p:sp>
        <p:nvSpPr>
          <p:cNvPr id="3" name="TextBox 2"/>
          <p:cNvSpPr txBox="1"/>
          <p:nvPr/>
        </p:nvSpPr>
        <p:spPr>
          <a:xfrm>
            <a:off x="914400" y="1828800"/>
            <a:ext cx="3657600" cy="4572000"/>
          </a:xfrm>
          <a:prstGeom prst="rect">
            <a:avLst/>
          </a:prstGeom>
          <a:noFill/>
        </p:spPr>
        <p:txBody>
          <a:bodyPr wrap="square">
            <a:spAutoFit/>
          </a:bodyPr>
          <a:lstStyle/>
          <a:p>
            <a:pPr>
              <a:defRPr sz="1569"/>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of different type with respect to the previous ones?</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6-10 have to sum to 100.0.</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1.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1.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100 years, rhyolitic magma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665"/>
            </a:pPr>
            <a:r>
              <a:t>Given the present state of Cotopaxi volcano and your knowledge of its past eruptive chronology, how much probability do you assign to the possibility that, for the next 100 years at Cotopaxi, there will be at least 1 eruption involving magma totally or predominantly of rhyolitic composition?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2.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2.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100 years, andesitic magma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665"/>
            </a:pPr>
            <a:r>
              <a:t>Given the present state of Cotopaxi volcano and your knowledge of its past eruptive chronology, how much probability do you assign to the possibility that, for the next 100 years at Cotopaxi, there will be at least 1 eruption involving magma totally or predominantly of andesitic composition?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3.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3.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rhyolitic magma, SubPlinian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603"/>
            </a:pPr>
            <a:r>
              <a:t>Given the present state of Cotopaxi volcano and your knowledge of its past eruptive chronology, how much probability do you assign to the possibility that, for the next 100 years at Cotopaxi, in case totally or predominantly rhyolitic magma would be involved, there will be at least 1 SubPlinian eruption (VEI 3-4)?</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4.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4.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100 years, rhyolitic magma, 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541"/>
            </a:pPr>
            <a:r>
              <a:t>Given the present state of Cotopaxi volcano and your knowledge of its past eruptive chronology, how much probability do you assign to the possibility that, for the next 100 years at Cotopaxi, in case totally or predominantly rhyolitic magma would be involved, there will be at least 1 eruption similar to the F-2/F-4 ones (Plinian, VEI 4-5)?</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5.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5.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5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rhyolitic magma, other eruption type</a:t>
            </a:r>
          </a:p>
        </p:txBody>
      </p:sp>
      <p:sp>
        <p:nvSpPr>
          <p:cNvPr id="3" name="TextBox 2"/>
          <p:cNvSpPr txBox="1"/>
          <p:nvPr/>
        </p:nvSpPr>
        <p:spPr>
          <a:xfrm>
            <a:off x="914400" y="1828800"/>
            <a:ext cx="3657600" cy="4572000"/>
          </a:xfrm>
          <a:prstGeom prst="rect">
            <a:avLst/>
          </a:prstGeom>
          <a:noFill/>
        </p:spPr>
        <p:txBody>
          <a:bodyPr wrap="square">
            <a:spAutoFit/>
          </a:bodyPr>
          <a:lstStyle/>
          <a:p>
            <a:pPr>
              <a:defRPr sz="1530"/>
            </a:pPr>
            <a:r>
              <a:t>Given the present state of Cotopaxi volcano and your knowledge of its past eruptive chronology, how much probability do you assign to the possibility that, for the next 100 years at Cotopaxi, in case totally or predominantly rhyolitic magma would be involved, there will be at least 1 eruption of different type with respect to the previous ones?</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6.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6.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6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andesitic magma, Hydrovolcanic/Continuos ash emission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469"/>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similar to the AD 2015 one (Hydrovolcanic to long-lasting ash emission, VEI 1-2)?</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7.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7.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7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andesitic magma, Violent Strombolian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491"/>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similar to the ones in the XIX century (Violent Strombolian, VEI 2-3)?</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8.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8.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8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andesitic magma, SubPlinian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536"/>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similar to the AD 1877 one (SubPlinian, VEI 3-4)?</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19.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19.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19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100 years, andesitic magma, 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534"/>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similar to the Layers 3/5 ones (Plinian, VEI 4-5)?</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0.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0.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0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andesitic magma, other eruption type</a:t>
            </a:r>
          </a:p>
        </p:txBody>
      </p:sp>
      <p:sp>
        <p:nvSpPr>
          <p:cNvPr id="3" name="TextBox 2"/>
          <p:cNvSpPr txBox="1"/>
          <p:nvPr/>
        </p:nvSpPr>
        <p:spPr>
          <a:xfrm>
            <a:off x="914400" y="1828800"/>
            <a:ext cx="3657600" cy="4572000"/>
          </a:xfrm>
          <a:prstGeom prst="rect">
            <a:avLst/>
          </a:prstGeom>
          <a:noFill/>
        </p:spPr>
        <p:txBody>
          <a:bodyPr wrap="square">
            <a:spAutoFit/>
          </a:bodyPr>
          <a:lstStyle/>
          <a:p>
            <a:pPr>
              <a:defRPr sz="1530"/>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of different type with respect to the previous ones?</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1.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1.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rhyolitic,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rhyolitic magma: what is the mean duration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2.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2.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rhyolitic,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rhyolitic magma: what is the total amount of mass of the tephra fallout deposits associated to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3.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3.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rhyolitic,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rhyolitic magma: what is the average plume height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4.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4.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rhyolitic,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rhyolitic magma: what is the mean duration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5.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5.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5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rhyolitic,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rhyolitic magma: what is the total amount of mass of the tephra fallout deposits associated to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6.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6.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6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rhyolitic,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rhyolitic magma: what is the average plume height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7.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7.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7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Hydrovolcanic/Continuos ash emission andesitic,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Hydrovolcanic to long-lasting ash emission eruptions – andesitic magma: what is the mean duration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8.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8.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8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Hydrovolcanic/Continuos ash emission andesitic,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Hydrovolcanic to long-lasting ash emission eruptions – andesitic magma: what is the total amount of mass of the tephra fallout deposits associated to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29.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29.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29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Hydrovolcanic/Continuos ash emission andesitic,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Hydrovolcanic to long-lasting ash emission eruptions – andesitic magma: what is the average plume height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0.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0.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0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Violent Strombolian andesitic,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Violent Strombolian eruptions – andesitic magma: what is the mean duration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1.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1.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Violent Strombolian andesitic,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Violent Strombolian eruptions – andesitic magma: what is the total amount of mass of the tephra fallout deposits associated to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2.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2.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Violent Strombolian andesitic,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Violent Strombolian eruptions – andesitic magma: what is the average plume height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3.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3.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andesitic,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andesitic magma: what is the mean duration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4.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4.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andesitic,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andesitic magma: what is the total amount of mass of the tephra fallout deposits associated to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5.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5.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5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andesitic,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andesitic magma: what is the average plume height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6.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6.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6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andesitic,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andesitic magma: what is the mean duration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7.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7.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7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andesitic,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andesitic magma: what is the total amount of mass of the tephra fallout deposits associated to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DF_group0_38.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Cotopaxi_cum_group0_38.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Cotopaxi_Target_38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andesitic,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andesitic magma: what is the average plume height of this kind of eruption?</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Percentiles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Percentiles of target questions</a:t>
            </a:r>
          </a:p>
        </p:txBody>
      </p:sp>
      <p:graphicFrame>
        <p:nvGraphicFramePr>
          <p:cNvPr id="3" name="Table 2"/>
          <p:cNvGraphicFramePr>
            <a:graphicFrameLocks noGrp="1"/>
          </p:cNvGraphicFramePr>
          <p:nvPr/>
        </p:nvGraphicFramePr>
        <p:xfrm>
          <a:off x="914400" y="1828800"/>
          <a:ext cx="12801600" cy="SHAPE_TO_FIT_TEXT (1)"/>
        </p:xfrm>
        <a:graphic>
          <a:graphicData uri="http://schemas.openxmlformats.org/drawingml/2006/table">
            <a:tbl>
              <a:tblPr firstRow="1" bandRow="1">
                <a:tableStyleId>{5C22544A-7EE6-4342-B048-85BDC9FD1C3A}</a:tableStyleId>
              </a:tblPr>
              <a:tblGrid>
                <a:gridCol w="1422400"/>
                <a:gridCol w="1422400"/>
                <a:gridCol w="1422400"/>
                <a:gridCol w="1422400"/>
                <a:gridCol w="1422400"/>
                <a:gridCol w="1422400"/>
                <a:gridCol w="1422400"/>
                <a:gridCol w="1422400"/>
                <a:gridCol w="1422400"/>
              </a:tblGrid>
              <a:tr h="0">
                <a:tc>
                  <a:txBody>
                    <a:bodyPr/>
                    <a:lstStyle/>
                    <a:p/>
                  </a:txBody>
                  <a:tcPr/>
                </a:tc>
                <a:tc>
                  <a:txBody>
                    <a:bodyPr/>
                    <a:lstStyle/>
                    <a:p>
                      <a:r>
                        <a:rPr sz="1400"/>
                        <a:t>Q05 (EW)</a:t>
                      </a:r>
                    </a:p>
                  </a:txBody>
                  <a:tcPr/>
                </a:tc>
                <a:tc>
                  <a:txBody>
                    <a:bodyPr/>
                    <a:lstStyle/>
                    <a:p>
                      <a:r>
                        <a:rPr sz="1400"/>
                        <a:t>Q50 (EW)</a:t>
                      </a:r>
                    </a:p>
                  </a:txBody>
                  <a:tcPr/>
                </a:tc>
                <a:tc>
                  <a:txBody>
                    <a:bodyPr/>
                    <a:lstStyle/>
                    <a:p>
                      <a:r>
                        <a:rPr sz="1400"/>
                        <a:t>Q95 (EW)</a:t>
                      </a:r>
                    </a:p>
                  </a:txBody>
                  <a:tcPr/>
                </a:tc>
                <a:tc>
                  <a:txBody>
                    <a:bodyPr/>
                    <a:lstStyle/>
                    <a:p>
                      <a:r>
                        <a:rPr sz="1400"/>
                        <a:t>Qmean (EW)</a:t>
                      </a:r>
                    </a:p>
                  </a:txBody>
                  <a:tcPr/>
                </a:tc>
                <a:tc>
                  <a:txBody>
                    <a:bodyPr/>
                    <a:lstStyle/>
                    <a:p>
                      <a:r>
                        <a:rPr sz="1400"/>
                        <a:t>Q05 (Cooke)</a:t>
                      </a:r>
                    </a:p>
                  </a:txBody>
                  <a:tcPr/>
                </a:tc>
                <a:tc>
                  <a:txBody>
                    <a:bodyPr/>
                    <a:lstStyle/>
                    <a:p>
                      <a:r>
                        <a:rPr sz="1400"/>
                        <a:t>Q50 (Cooke)</a:t>
                      </a:r>
                    </a:p>
                  </a:txBody>
                  <a:tcPr/>
                </a:tc>
                <a:tc>
                  <a:txBody>
                    <a:bodyPr/>
                    <a:lstStyle/>
                    <a:p>
                      <a:r>
                        <a:rPr sz="1400"/>
                        <a:t>Q95 (Cooke)</a:t>
                      </a:r>
                    </a:p>
                  </a:txBody>
                  <a:tcPr/>
                </a:tc>
                <a:tc>
                  <a:txBody>
                    <a:bodyPr/>
                    <a:lstStyle/>
                    <a:p>
                      <a:r>
                        <a:rPr sz="1400"/>
                        <a:t>Qmean (Cooke)</a:t>
                      </a:r>
                    </a:p>
                  </a:txBody>
                  <a:tcPr/>
                </a:tc>
              </a:tr>
              <a:tr h="0">
                <a:tc>
                  <a:txBody>
                    <a:bodyPr/>
                    <a:lstStyle/>
                    <a:p>
                      <a:r>
                        <a:rPr sz="1400"/>
                        <a:t>TQ 1</a:t>
                      </a:r>
                    </a:p>
                  </a:txBody>
                  <a:tcPr/>
                </a:tc>
                <a:tc>
                  <a:txBody>
                    <a:bodyPr/>
                    <a:lstStyle/>
                    <a:p>
                      <a:r>
                        <a:rPr sz="1400"/>
                        <a:t>  2.01</a:t>
                      </a:r>
                    </a:p>
                  </a:txBody>
                  <a:tcPr/>
                </a:tc>
                <a:tc>
                  <a:txBody>
                    <a:bodyPr/>
                    <a:lstStyle/>
                    <a:p>
                      <a:r>
                        <a:rPr sz="1400"/>
                        <a:t> 11.63</a:t>
                      </a:r>
                    </a:p>
                  </a:txBody>
                  <a:tcPr/>
                </a:tc>
                <a:tc>
                  <a:txBody>
                    <a:bodyPr/>
                    <a:lstStyle/>
                    <a:p>
                      <a:r>
                        <a:rPr sz="1400"/>
                        <a:t> 56.28</a:t>
                      </a:r>
                    </a:p>
                  </a:txBody>
                  <a:tcPr/>
                </a:tc>
                <a:tc>
                  <a:txBody>
                    <a:bodyPr/>
                    <a:lstStyle/>
                    <a:p>
                      <a:r>
                        <a:rPr sz="1400"/>
                        <a:t> 17.96</a:t>
                      </a:r>
                    </a:p>
                  </a:txBody>
                  <a:tcPr/>
                </a:tc>
                <a:tc>
                  <a:txBody>
                    <a:bodyPr/>
                    <a:lstStyle/>
                    <a:p>
                      <a:r>
                        <a:rPr sz="1400"/>
                        <a:t>  1.36</a:t>
                      </a:r>
                    </a:p>
                  </a:txBody>
                  <a:tcPr/>
                </a:tc>
                <a:tc>
                  <a:txBody>
                    <a:bodyPr/>
                    <a:lstStyle/>
                    <a:p>
                      <a:r>
                        <a:rPr sz="1400"/>
                        <a:t>  8.05</a:t>
                      </a:r>
                    </a:p>
                  </a:txBody>
                  <a:tcPr/>
                </a:tc>
                <a:tc>
                  <a:txBody>
                    <a:bodyPr/>
                    <a:lstStyle/>
                    <a:p>
                      <a:r>
                        <a:rPr sz="1400"/>
                        <a:t> 37.22</a:t>
                      </a:r>
                    </a:p>
                  </a:txBody>
                  <a:tcPr/>
                </a:tc>
                <a:tc>
                  <a:txBody>
                    <a:bodyPr/>
                    <a:lstStyle/>
                    <a:p>
                      <a:r>
                        <a:rPr sz="1400"/>
                        <a:t> 11.65</a:t>
                      </a:r>
                    </a:p>
                  </a:txBody>
                  <a:tcPr/>
                </a:tc>
              </a:tr>
              <a:tr h="0">
                <a:tc>
                  <a:txBody>
                    <a:bodyPr/>
                    <a:lstStyle/>
                    <a:p>
                      <a:r>
                        <a:rPr sz="1400"/>
                        <a:t>TQ 2</a:t>
                      </a:r>
                    </a:p>
                  </a:txBody>
                  <a:tcPr/>
                </a:tc>
                <a:tc>
                  <a:txBody>
                    <a:bodyPr/>
                    <a:lstStyle/>
                    <a:p>
                      <a:r>
                        <a:rPr sz="1400"/>
                        <a:t> 40.99</a:t>
                      </a:r>
                    </a:p>
                  </a:txBody>
                  <a:tcPr/>
                </a:tc>
                <a:tc>
                  <a:txBody>
                    <a:bodyPr/>
                    <a:lstStyle/>
                    <a:p>
                      <a:r>
                        <a:rPr sz="1400"/>
                        <a:t> 87.81</a:t>
                      </a:r>
                    </a:p>
                  </a:txBody>
                  <a:tcPr/>
                </a:tc>
                <a:tc>
                  <a:txBody>
                    <a:bodyPr/>
                    <a:lstStyle/>
                    <a:p>
                      <a:r>
                        <a:rPr sz="1400"/>
                        <a:t> 98.04</a:t>
                      </a:r>
                    </a:p>
                  </a:txBody>
                  <a:tcPr/>
                </a:tc>
                <a:tc>
                  <a:txBody>
                    <a:bodyPr/>
                    <a:lstStyle/>
                    <a:p>
                      <a:r>
                        <a:rPr sz="1400"/>
                        <a:t> 81.12</a:t>
                      </a:r>
                    </a:p>
                  </a:txBody>
                  <a:tcPr/>
                </a:tc>
                <a:tc>
                  <a:txBody>
                    <a:bodyPr/>
                    <a:lstStyle/>
                    <a:p>
                      <a:r>
                        <a:rPr sz="1400"/>
                        <a:t> 51.23</a:t>
                      </a:r>
                    </a:p>
                  </a:txBody>
                  <a:tcPr/>
                </a:tc>
                <a:tc>
                  <a:txBody>
                    <a:bodyPr/>
                    <a:lstStyle/>
                    <a:p>
                      <a:r>
                        <a:rPr sz="1400"/>
                        <a:t> 90.74</a:t>
                      </a:r>
                    </a:p>
                  </a:txBody>
                  <a:tcPr/>
                </a:tc>
                <a:tc>
                  <a:txBody>
                    <a:bodyPr/>
                    <a:lstStyle/>
                    <a:p>
                      <a:r>
                        <a:rPr sz="1400"/>
                        <a:t> 98.59</a:t>
                      </a:r>
                    </a:p>
                  </a:txBody>
                  <a:tcPr/>
                </a:tc>
                <a:tc>
                  <a:txBody>
                    <a:bodyPr/>
                    <a:lstStyle/>
                    <a:p>
                      <a:r>
                        <a:rPr sz="1400"/>
                        <a:t> 85.18</a:t>
                      </a:r>
                    </a:p>
                  </a:txBody>
                  <a:tcPr/>
                </a:tc>
              </a:tr>
              <a:tr h="0">
                <a:tc>
                  <a:txBody>
                    <a:bodyPr/>
                    <a:lstStyle/>
                    <a:p>
                      <a:r>
                        <a:rPr sz="1400"/>
                        <a:t>TQ 3</a:t>
                      </a:r>
                    </a:p>
                  </a:txBody>
                  <a:tcPr/>
                </a:tc>
                <a:tc>
                  <a:txBody>
                    <a:bodyPr/>
                    <a:lstStyle/>
                    <a:p>
                      <a:r>
                        <a:rPr sz="1400"/>
                        <a:t>  8.28</a:t>
                      </a:r>
                    </a:p>
                  </a:txBody>
                  <a:tcPr/>
                </a:tc>
                <a:tc>
                  <a:txBody>
                    <a:bodyPr/>
                    <a:lstStyle/>
                    <a:p>
                      <a:r>
                        <a:rPr sz="1400"/>
                        <a:t> 46.01</a:t>
                      </a:r>
                    </a:p>
                  </a:txBody>
                  <a:tcPr/>
                </a:tc>
                <a:tc>
                  <a:txBody>
                    <a:bodyPr/>
                    <a:lstStyle/>
                    <a:p>
                      <a:r>
                        <a:rPr sz="1400"/>
                        <a:t> 91.27</a:t>
                      </a:r>
                    </a:p>
                  </a:txBody>
                  <a:tcPr/>
                </a:tc>
                <a:tc>
                  <a:txBody>
                    <a:bodyPr/>
                    <a:lstStyle/>
                    <a:p>
                      <a:r>
                        <a:rPr sz="1400"/>
                        <a:t> 47.26</a:t>
                      </a:r>
                    </a:p>
                  </a:txBody>
                  <a:tcPr/>
                </a:tc>
                <a:tc>
                  <a:txBody>
                    <a:bodyPr/>
                    <a:lstStyle/>
                    <a:p>
                      <a:r>
                        <a:rPr sz="1400"/>
                        <a:t> 10.09</a:t>
                      </a:r>
                    </a:p>
                  </a:txBody>
                  <a:tcPr/>
                </a:tc>
                <a:tc>
                  <a:txBody>
                    <a:bodyPr/>
                    <a:lstStyle/>
                    <a:p>
                      <a:r>
                        <a:rPr sz="1400"/>
                        <a:t> 50.75</a:t>
                      </a:r>
                    </a:p>
                  </a:txBody>
                  <a:tcPr/>
                </a:tc>
                <a:tc>
                  <a:txBody>
                    <a:bodyPr/>
                    <a:lstStyle/>
                    <a:p>
                      <a:r>
                        <a:rPr sz="1400"/>
                        <a:t> 89.19</a:t>
                      </a:r>
                    </a:p>
                  </a:txBody>
                  <a:tcPr/>
                </a:tc>
                <a:tc>
                  <a:txBody>
                    <a:bodyPr/>
                    <a:lstStyle/>
                    <a:p>
                      <a:r>
                        <a:rPr sz="1400"/>
                        <a:t> 49.59</a:t>
                      </a:r>
                    </a:p>
                  </a:txBody>
                  <a:tcPr/>
                </a:tc>
              </a:tr>
              <a:tr h="0">
                <a:tc>
                  <a:txBody>
                    <a:bodyPr/>
                    <a:lstStyle/>
                    <a:p>
                      <a:r>
                        <a:rPr sz="1400"/>
                        <a:t>TQ 4</a:t>
                      </a:r>
                    </a:p>
                  </a:txBody>
                  <a:tcPr/>
                </a:tc>
                <a:tc>
                  <a:txBody>
                    <a:bodyPr/>
                    <a:lstStyle/>
                    <a:p>
                      <a:r>
                        <a:rPr sz="1400"/>
                        <a:t>  4.91</a:t>
                      </a:r>
                    </a:p>
                  </a:txBody>
                  <a:tcPr/>
                </a:tc>
                <a:tc>
                  <a:txBody>
                    <a:bodyPr/>
                    <a:lstStyle/>
                    <a:p>
                      <a:r>
                        <a:rPr sz="1400"/>
                        <a:t> 31.47</a:t>
                      </a:r>
                    </a:p>
                  </a:txBody>
                  <a:tcPr/>
                </a:tc>
                <a:tc>
                  <a:txBody>
                    <a:bodyPr/>
                    <a:lstStyle/>
                    <a:p>
                      <a:r>
                        <a:rPr sz="1400"/>
                        <a:t> 84.36</a:t>
                      </a:r>
                    </a:p>
                  </a:txBody>
                  <a:tcPr/>
                </a:tc>
                <a:tc>
                  <a:txBody>
                    <a:bodyPr/>
                    <a:lstStyle/>
                    <a:p>
                      <a:r>
                        <a:rPr sz="1400"/>
                        <a:t> 37.47</a:t>
                      </a:r>
                    </a:p>
                  </a:txBody>
                  <a:tcPr/>
                </a:tc>
                <a:tc>
                  <a:txBody>
                    <a:bodyPr/>
                    <a:lstStyle/>
                    <a:p>
                      <a:r>
                        <a:rPr sz="1400"/>
                        <a:t>  6.92</a:t>
                      </a:r>
                    </a:p>
                  </a:txBody>
                  <a:tcPr/>
                </a:tc>
                <a:tc>
                  <a:txBody>
                    <a:bodyPr/>
                    <a:lstStyle/>
                    <a:p>
                      <a:r>
                        <a:rPr sz="1400"/>
                        <a:t> 32.17</a:t>
                      </a:r>
                    </a:p>
                  </a:txBody>
                  <a:tcPr/>
                </a:tc>
                <a:tc>
                  <a:txBody>
                    <a:bodyPr/>
                    <a:lstStyle/>
                    <a:p>
                      <a:r>
                        <a:rPr sz="1400"/>
                        <a:t> 83.39</a:t>
                      </a:r>
                    </a:p>
                  </a:txBody>
                  <a:tcPr/>
                </a:tc>
                <a:tc>
                  <a:txBody>
                    <a:bodyPr/>
                    <a:lstStyle/>
                    <a:p>
                      <a:r>
                        <a:rPr sz="1400"/>
                        <a:t> 38.48</a:t>
                      </a:r>
                    </a:p>
                  </a:txBody>
                  <a:tcPr/>
                </a:tc>
              </a:tr>
              <a:tr h="0">
                <a:tc>
                  <a:txBody>
                    <a:bodyPr/>
                    <a:lstStyle/>
                    <a:p>
                      <a:r>
                        <a:rPr sz="1400"/>
                        <a:t>TQ 5</a:t>
                      </a:r>
                    </a:p>
                  </a:txBody>
                  <a:tcPr/>
                </a:tc>
                <a:tc>
                  <a:txBody>
                    <a:bodyPr/>
                    <a:lstStyle/>
                    <a:p>
                      <a:r>
                        <a:rPr sz="1400"/>
                        <a:t>  3.04</a:t>
                      </a:r>
                    </a:p>
                  </a:txBody>
                  <a:tcPr/>
                </a:tc>
                <a:tc>
                  <a:txBody>
                    <a:bodyPr/>
                    <a:lstStyle/>
                    <a:p>
                      <a:r>
                        <a:rPr sz="1400"/>
                        <a:t> 12.52</a:t>
                      </a:r>
                    </a:p>
                  </a:txBody>
                  <a:tcPr/>
                </a:tc>
                <a:tc>
                  <a:txBody>
                    <a:bodyPr/>
                    <a:lstStyle/>
                    <a:p>
                      <a:r>
                        <a:rPr sz="1400"/>
                        <a:t> 74.93</a:t>
                      </a:r>
                    </a:p>
                  </a:txBody>
                  <a:tcPr/>
                </a:tc>
                <a:tc>
                  <a:txBody>
                    <a:bodyPr/>
                    <a:lstStyle/>
                    <a:p>
                      <a:r>
                        <a:rPr sz="1400"/>
                        <a:t> 21.67</a:t>
                      </a:r>
                    </a:p>
                  </a:txBody>
                  <a:tcPr/>
                </a:tc>
                <a:tc>
                  <a:txBody>
                    <a:bodyPr/>
                    <a:lstStyle/>
                    <a:p>
                      <a:r>
                        <a:rPr sz="1400"/>
                        <a:t>  3.05</a:t>
                      </a:r>
                    </a:p>
                  </a:txBody>
                  <a:tcPr/>
                </a:tc>
                <a:tc>
                  <a:txBody>
                    <a:bodyPr/>
                    <a:lstStyle/>
                    <a:p>
                      <a:r>
                        <a:rPr sz="1400"/>
                        <a:t> 10.40</a:t>
                      </a:r>
                    </a:p>
                  </a:txBody>
                  <a:tcPr/>
                </a:tc>
                <a:tc>
                  <a:txBody>
                    <a:bodyPr/>
                    <a:lstStyle/>
                    <a:p>
                      <a:r>
                        <a:rPr sz="1400"/>
                        <a:t> 73.98</a:t>
                      </a:r>
                    </a:p>
                  </a:txBody>
                  <a:tcPr/>
                </a:tc>
                <a:tc>
                  <a:txBody>
                    <a:bodyPr/>
                    <a:lstStyle/>
                    <a:p>
                      <a:r>
                        <a:rPr sz="1400"/>
                        <a:t> 18.11</a:t>
                      </a:r>
                    </a:p>
                  </a:txBody>
                  <a:tcPr/>
                </a:tc>
              </a:tr>
              <a:tr h="0">
                <a:tc>
                  <a:txBody>
                    <a:bodyPr/>
                    <a:lstStyle/>
                    <a:p>
                      <a:r>
                        <a:rPr sz="1400"/>
                        <a:t>TQ 6</a:t>
                      </a:r>
                    </a:p>
                  </a:txBody>
                  <a:tcPr/>
                </a:tc>
                <a:tc>
                  <a:txBody>
                    <a:bodyPr/>
                    <a:lstStyle/>
                    <a:p>
                      <a:r>
                        <a:rPr sz="1400"/>
                        <a:t>  9.76</a:t>
                      </a:r>
                    </a:p>
                  </a:txBody>
                  <a:tcPr/>
                </a:tc>
                <a:tc>
                  <a:txBody>
                    <a:bodyPr/>
                    <a:lstStyle/>
                    <a:p>
                      <a:r>
                        <a:rPr sz="1400"/>
                        <a:t> 42.64</a:t>
                      </a:r>
                    </a:p>
                  </a:txBody>
                  <a:tcPr/>
                </a:tc>
                <a:tc>
                  <a:txBody>
                    <a:bodyPr/>
                    <a:lstStyle/>
                    <a:p>
                      <a:r>
                        <a:rPr sz="1400"/>
                        <a:t> 86.40</a:t>
                      </a:r>
                    </a:p>
                  </a:txBody>
                  <a:tcPr/>
                </a:tc>
                <a:tc>
                  <a:txBody>
                    <a:bodyPr/>
                    <a:lstStyle/>
                    <a:p>
                      <a:r>
                        <a:rPr sz="1400"/>
                        <a:t> 45.12</a:t>
                      </a:r>
                    </a:p>
                  </a:txBody>
                  <a:tcPr/>
                </a:tc>
                <a:tc>
                  <a:txBody>
                    <a:bodyPr/>
                    <a:lstStyle/>
                    <a:p>
                      <a:r>
                        <a:rPr sz="1400"/>
                        <a:t> 16.74</a:t>
                      </a:r>
                    </a:p>
                  </a:txBody>
                  <a:tcPr/>
                </a:tc>
                <a:tc>
                  <a:txBody>
                    <a:bodyPr/>
                    <a:lstStyle/>
                    <a:p>
                      <a:r>
                        <a:rPr sz="1400"/>
                        <a:t> 61.92</a:t>
                      </a:r>
                    </a:p>
                  </a:txBody>
                  <a:tcPr/>
                </a:tc>
                <a:tc>
                  <a:txBody>
                    <a:bodyPr/>
                    <a:lstStyle/>
                    <a:p>
                      <a:r>
                        <a:rPr sz="1400"/>
                        <a:t> 89.73</a:t>
                      </a:r>
                    </a:p>
                  </a:txBody>
                  <a:tcPr/>
                </a:tc>
                <a:tc>
                  <a:txBody>
                    <a:bodyPr/>
                    <a:lstStyle/>
                    <a:p>
                      <a:r>
                        <a:rPr sz="1400"/>
                        <a:t> 57.67</a:t>
                      </a:r>
                    </a:p>
                  </a:txBody>
                  <a:tcPr/>
                </a:tc>
              </a:tr>
              <a:tr h="0">
                <a:tc>
                  <a:txBody>
                    <a:bodyPr/>
                    <a:lstStyle/>
                    <a:p>
                      <a:r>
                        <a:rPr sz="1400"/>
                        <a:t>TQ 7</a:t>
                      </a:r>
                    </a:p>
                  </a:txBody>
                  <a:tcPr/>
                </a:tc>
                <a:tc>
                  <a:txBody>
                    <a:bodyPr/>
                    <a:lstStyle/>
                    <a:p>
                      <a:r>
                        <a:rPr sz="1400"/>
                        <a:t>  5.57</a:t>
                      </a:r>
                    </a:p>
                  </a:txBody>
                  <a:tcPr/>
                </a:tc>
                <a:tc>
                  <a:txBody>
                    <a:bodyPr/>
                    <a:lstStyle/>
                    <a:p>
                      <a:r>
                        <a:rPr sz="1400"/>
                        <a:t> 27.74</a:t>
                      </a:r>
                    </a:p>
                  </a:txBody>
                  <a:tcPr/>
                </a:tc>
                <a:tc>
                  <a:txBody>
                    <a:bodyPr/>
                    <a:lstStyle/>
                    <a:p>
                      <a:r>
                        <a:rPr sz="1400"/>
                        <a:t> 73.83</a:t>
                      </a:r>
                    </a:p>
                  </a:txBody>
                  <a:tcPr/>
                </a:tc>
                <a:tc>
                  <a:txBody>
                    <a:bodyPr/>
                    <a:lstStyle/>
                    <a:p>
                      <a:r>
                        <a:rPr sz="1400"/>
                        <a:t> 31.56</a:t>
                      </a:r>
                    </a:p>
                  </a:txBody>
                  <a:tcPr/>
                </a:tc>
                <a:tc>
                  <a:txBody>
                    <a:bodyPr/>
                    <a:lstStyle/>
                    <a:p>
                      <a:r>
                        <a:rPr sz="1400"/>
                        <a:t>  2.87</a:t>
                      </a:r>
                    </a:p>
                  </a:txBody>
                  <a:tcPr/>
                </a:tc>
                <a:tc>
                  <a:txBody>
                    <a:bodyPr/>
                    <a:lstStyle/>
                    <a:p>
                      <a:r>
                        <a:rPr sz="1400"/>
                        <a:t> 19.51</a:t>
                      </a:r>
                    </a:p>
                  </a:txBody>
                  <a:tcPr/>
                </a:tc>
                <a:tc>
                  <a:txBody>
                    <a:bodyPr/>
                    <a:lstStyle/>
                    <a:p>
                      <a:r>
                        <a:rPr sz="1400"/>
                        <a:t> 65.74</a:t>
                      </a:r>
                    </a:p>
                  </a:txBody>
                  <a:tcPr/>
                </a:tc>
                <a:tc>
                  <a:txBody>
                    <a:bodyPr/>
                    <a:lstStyle/>
                    <a:p>
                      <a:r>
                        <a:rPr sz="1400"/>
                        <a:t> 25.61</a:t>
                      </a:r>
                    </a:p>
                  </a:txBody>
                  <a:tcPr/>
                </a:tc>
              </a:tr>
              <a:tr h="0">
                <a:tc>
                  <a:txBody>
                    <a:bodyPr/>
                    <a:lstStyle/>
                    <a:p>
                      <a:r>
                        <a:rPr sz="1400"/>
                        <a:t>TQ 8</a:t>
                      </a:r>
                    </a:p>
                  </a:txBody>
                  <a:tcPr/>
                </a:tc>
                <a:tc>
                  <a:txBody>
                    <a:bodyPr/>
                    <a:lstStyle/>
                    <a:p>
                      <a:r>
                        <a:rPr sz="1400"/>
                        <a:t>  3.68</a:t>
                      </a:r>
                    </a:p>
                  </a:txBody>
                  <a:tcPr/>
                </a:tc>
                <a:tc>
                  <a:txBody>
                    <a:bodyPr/>
                    <a:lstStyle/>
                    <a:p>
                      <a:r>
                        <a:rPr sz="1400"/>
                        <a:t> 18.00</a:t>
                      </a:r>
                    </a:p>
                  </a:txBody>
                  <a:tcPr/>
                </a:tc>
                <a:tc>
                  <a:txBody>
                    <a:bodyPr/>
                    <a:lstStyle/>
                    <a:p>
                      <a:r>
                        <a:rPr sz="1400"/>
                        <a:t> 67.70</a:t>
                      </a:r>
                    </a:p>
                  </a:txBody>
                  <a:tcPr/>
                </a:tc>
                <a:tc>
                  <a:txBody>
                    <a:bodyPr/>
                    <a:lstStyle/>
                    <a:p>
                      <a:r>
                        <a:rPr sz="1400"/>
                        <a:t> 23.30</a:t>
                      </a:r>
                    </a:p>
                  </a:txBody>
                  <a:tcPr/>
                </a:tc>
                <a:tc>
                  <a:txBody>
                    <a:bodyPr/>
                    <a:lstStyle/>
                    <a:p>
                      <a:r>
                        <a:rPr sz="1400"/>
                        <a:t>  2.42</a:t>
                      </a:r>
                    </a:p>
                  </a:txBody>
                  <a:tcPr/>
                </a:tc>
                <a:tc>
                  <a:txBody>
                    <a:bodyPr/>
                    <a:lstStyle/>
                    <a:p>
                      <a:r>
                        <a:rPr sz="1400"/>
                        <a:t> 12.14</a:t>
                      </a:r>
                    </a:p>
                  </a:txBody>
                  <a:tcPr/>
                </a:tc>
                <a:tc>
                  <a:txBody>
                    <a:bodyPr/>
                    <a:lstStyle/>
                    <a:p>
                      <a:r>
                        <a:rPr sz="1400"/>
                        <a:t> 42.11</a:t>
                      </a:r>
                    </a:p>
                  </a:txBody>
                  <a:tcPr/>
                </a:tc>
                <a:tc>
                  <a:txBody>
                    <a:bodyPr/>
                    <a:lstStyle/>
                    <a:p>
                      <a:r>
                        <a:rPr sz="1400"/>
                        <a:t> 15.97</a:t>
                      </a:r>
                    </a:p>
                  </a:txBody>
                  <a:tcPr/>
                </a:tc>
              </a:tr>
              <a:tr h="0">
                <a:tc>
                  <a:txBody>
                    <a:bodyPr/>
                    <a:lstStyle/>
                    <a:p>
                      <a:r>
                        <a:rPr sz="1400"/>
                        <a:t>TQ 9</a:t>
                      </a:r>
                    </a:p>
                  </a:txBody>
                  <a:tcPr/>
                </a:tc>
                <a:tc>
                  <a:txBody>
                    <a:bodyPr/>
                    <a:lstStyle/>
                    <a:p>
                      <a:r>
                        <a:rPr sz="1400"/>
                        <a:t>  1.03</a:t>
                      </a:r>
                    </a:p>
                  </a:txBody>
                  <a:tcPr/>
                </a:tc>
                <a:tc>
                  <a:txBody>
                    <a:bodyPr/>
                    <a:lstStyle/>
                    <a:p>
                      <a:r>
                        <a:rPr sz="1400"/>
                        <a:t>  7.20</a:t>
                      </a:r>
                    </a:p>
                  </a:txBody>
                  <a:tcPr/>
                </a:tc>
                <a:tc>
                  <a:txBody>
                    <a:bodyPr/>
                    <a:lstStyle/>
                    <a:p>
                      <a:r>
                        <a:rPr sz="1400"/>
                        <a:t> 54.43</a:t>
                      </a:r>
                    </a:p>
                  </a:txBody>
                  <a:tcPr/>
                </a:tc>
                <a:tc>
                  <a:txBody>
                    <a:bodyPr/>
                    <a:lstStyle/>
                    <a:p>
                      <a:r>
                        <a:rPr sz="1400"/>
                        <a:t> 13.49</a:t>
                      </a:r>
                    </a:p>
                  </a:txBody>
                  <a:tcPr/>
                </a:tc>
                <a:tc>
                  <a:txBody>
                    <a:bodyPr/>
                    <a:lstStyle/>
                    <a:p>
                      <a:r>
                        <a:rPr sz="1400"/>
                        <a:t>  0.75</a:t>
                      </a:r>
                    </a:p>
                  </a:txBody>
                  <a:tcPr/>
                </a:tc>
                <a:tc>
                  <a:txBody>
                    <a:bodyPr/>
                    <a:lstStyle/>
                    <a:p>
                      <a:r>
                        <a:rPr sz="1400"/>
                        <a:t>  5.66</a:t>
                      </a:r>
                    </a:p>
                  </a:txBody>
                  <a:tcPr/>
                </a:tc>
                <a:tc>
                  <a:txBody>
                    <a:bodyPr/>
                    <a:lstStyle/>
                    <a:p>
                      <a:r>
                        <a:rPr sz="1400"/>
                        <a:t> 27.42</a:t>
                      </a:r>
                    </a:p>
                  </a:txBody>
                  <a:tcPr/>
                </a:tc>
                <a:tc>
                  <a:txBody>
                    <a:bodyPr/>
                    <a:lstStyle/>
                    <a:p>
                      <a:r>
                        <a:rPr sz="1400"/>
                        <a:t>  8.55</a:t>
                      </a:r>
                    </a:p>
                  </a:txBody>
                  <a:tcPr/>
                </a:tc>
              </a:tr>
              <a:tr h="0">
                <a:tc>
                  <a:txBody>
                    <a:bodyPr/>
                    <a:lstStyle/>
                    <a:p>
                      <a:r>
                        <a:rPr sz="1400"/>
                        <a:t>TQ 10</a:t>
                      </a:r>
                    </a:p>
                  </a:txBody>
                  <a:tcPr/>
                </a:tc>
                <a:tc>
                  <a:txBody>
                    <a:bodyPr/>
                    <a:lstStyle/>
                    <a:p>
                      <a:r>
                        <a:rPr sz="1400"/>
                        <a:t>  1.23</a:t>
                      </a:r>
                    </a:p>
                  </a:txBody>
                  <a:tcPr/>
                </a:tc>
                <a:tc>
                  <a:txBody>
                    <a:bodyPr/>
                    <a:lstStyle/>
                    <a:p>
                      <a:r>
                        <a:rPr sz="1400"/>
                        <a:t>  5.62</a:t>
                      </a:r>
                    </a:p>
                  </a:txBody>
                  <a:tcPr/>
                </a:tc>
                <a:tc>
                  <a:txBody>
                    <a:bodyPr/>
                    <a:lstStyle/>
                    <a:p>
                      <a:r>
                        <a:rPr sz="1400"/>
                        <a:t> 49.90</a:t>
                      </a:r>
                    </a:p>
                  </a:txBody>
                  <a:tcPr/>
                </a:tc>
                <a:tc>
                  <a:txBody>
                    <a:bodyPr/>
                    <a:lstStyle/>
                    <a:p>
                      <a:r>
                        <a:rPr sz="1400"/>
                        <a:t> 12.02</a:t>
                      </a:r>
                    </a:p>
                  </a:txBody>
                  <a:tcPr/>
                </a:tc>
                <a:tc>
                  <a:txBody>
                    <a:bodyPr/>
                    <a:lstStyle/>
                    <a:p>
                      <a:r>
                        <a:rPr sz="1400"/>
                        <a:t>  0.75</a:t>
                      </a:r>
                    </a:p>
                  </a:txBody>
                  <a:tcPr/>
                </a:tc>
                <a:tc>
                  <a:txBody>
                    <a:bodyPr/>
                    <a:lstStyle/>
                    <a:p>
                      <a:r>
                        <a:rPr sz="1400"/>
                        <a:t>  4.70</a:t>
                      </a:r>
                    </a:p>
                  </a:txBody>
                  <a:tcPr/>
                </a:tc>
                <a:tc>
                  <a:txBody>
                    <a:bodyPr/>
                    <a:lstStyle/>
                    <a:p>
                      <a:r>
                        <a:rPr sz="1400"/>
                        <a:t> 34.80</a:t>
                      </a:r>
                    </a:p>
                  </a:txBody>
                  <a:tcPr/>
                </a:tc>
                <a:tc>
                  <a:txBody>
                    <a:bodyPr/>
                    <a:lstStyle/>
                    <a:p>
                      <a:r>
                        <a:rPr sz="1400"/>
                        <a:t>  9.28</a:t>
                      </a:r>
                    </a:p>
                  </a:txBody>
                  <a:tcPr/>
                </a:tc>
              </a:tr>
              <a:tr h="0">
                <a:tc>
                  <a:txBody>
                    <a:bodyPr/>
                    <a:lstStyle/>
                    <a:p>
                      <a:r>
                        <a:rPr sz="1400"/>
                        <a:t>TQ 11</a:t>
                      </a:r>
                    </a:p>
                  </a:txBody>
                  <a:tcPr/>
                </a:tc>
                <a:tc>
                  <a:txBody>
                    <a:bodyPr/>
                    <a:lstStyle/>
                    <a:p>
                      <a:r>
                        <a:rPr sz="1400"/>
                        <a:t>  0.73</a:t>
                      </a:r>
                    </a:p>
                  </a:txBody>
                  <a:tcPr/>
                </a:tc>
                <a:tc>
                  <a:txBody>
                    <a:bodyPr/>
                    <a:lstStyle/>
                    <a:p>
                      <a:r>
                        <a:rPr sz="1400"/>
                        <a:t> 17.16</a:t>
                      </a:r>
                    </a:p>
                  </a:txBody>
                  <a:tcPr/>
                </a:tc>
                <a:tc>
                  <a:txBody>
                    <a:bodyPr/>
                    <a:lstStyle/>
                    <a:p>
                      <a:r>
                        <a:rPr sz="1400"/>
                        <a:t> 64.83</a:t>
                      </a:r>
                    </a:p>
                  </a:txBody>
                  <a:tcPr/>
                </a:tc>
                <a:tc>
                  <a:txBody>
                    <a:bodyPr/>
                    <a:lstStyle/>
                    <a:p>
                      <a:r>
                        <a:rPr sz="1400"/>
                        <a:t> 22.60</a:t>
                      </a:r>
                    </a:p>
                  </a:txBody>
                  <a:tcPr/>
                </a:tc>
                <a:tc>
                  <a:txBody>
                    <a:bodyPr/>
                    <a:lstStyle/>
                    <a:p>
                      <a:r>
                        <a:rPr sz="1400"/>
                        <a:t>  0.20</a:t>
                      </a:r>
                    </a:p>
                  </a:txBody>
                  <a:tcPr/>
                </a:tc>
                <a:tc>
                  <a:txBody>
                    <a:bodyPr/>
                    <a:lstStyle/>
                    <a:p>
                      <a:r>
                        <a:rPr sz="1400"/>
                        <a:t> 18.14</a:t>
                      </a:r>
                    </a:p>
                  </a:txBody>
                  <a:tcPr/>
                </a:tc>
                <a:tc>
                  <a:txBody>
                    <a:bodyPr/>
                    <a:lstStyle/>
                    <a:p>
                      <a:r>
                        <a:rPr sz="1400"/>
                        <a:t> 61.00</a:t>
                      </a:r>
                    </a:p>
                  </a:txBody>
                  <a:tcPr/>
                </a:tc>
                <a:tc>
                  <a:txBody>
                    <a:bodyPr/>
                    <a:lstStyle/>
                    <a:p>
                      <a:r>
                        <a:rPr sz="1400"/>
                        <a:t> 22.68</a:t>
                      </a:r>
                    </a:p>
                  </a:txBody>
                  <a:tcPr/>
                </a:tc>
              </a:tr>
              <a:tr h="0">
                <a:tc>
                  <a:txBody>
                    <a:bodyPr/>
                    <a:lstStyle/>
                    <a:p>
                      <a:r>
                        <a:rPr sz="1400"/>
                        <a:t>TQ 12</a:t>
                      </a:r>
                    </a:p>
                  </a:txBody>
                  <a:tcPr/>
                </a:tc>
                <a:tc>
                  <a:txBody>
                    <a:bodyPr/>
                    <a:lstStyle/>
                    <a:p>
                      <a:r>
                        <a:rPr sz="1400"/>
                        <a:t> 40.07</a:t>
                      </a:r>
                    </a:p>
                  </a:txBody>
                  <a:tcPr/>
                </a:tc>
                <a:tc>
                  <a:txBody>
                    <a:bodyPr/>
                    <a:lstStyle/>
                    <a:p>
                      <a:r>
                        <a:rPr sz="1400"/>
                        <a:t> 82.82</a:t>
                      </a:r>
                    </a:p>
                  </a:txBody>
                  <a:tcPr/>
                </a:tc>
                <a:tc>
                  <a:txBody>
                    <a:bodyPr/>
                    <a:lstStyle/>
                    <a:p>
                      <a:r>
                        <a:rPr sz="1400"/>
                        <a:t> 97.58</a:t>
                      </a:r>
                    </a:p>
                  </a:txBody>
                  <a:tcPr/>
                </a:tc>
                <a:tc>
                  <a:txBody>
                    <a:bodyPr/>
                    <a:lstStyle/>
                    <a:p>
                      <a:r>
                        <a:rPr sz="1400"/>
                        <a:t> 78.26</a:t>
                      </a:r>
                    </a:p>
                  </a:txBody>
                  <a:tcPr/>
                </a:tc>
                <a:tc>
                  <a:txBody>
                    <a:bodyPr/>
                    <a:lstStyle/>
                    <a:p>
                      <a:r>
                        <a:rPr sz="1400"/>
                        <a:t> 38.59</a:t>
                      </a:r>
                    </a:p>
                  </a:txBody>
                  <a:tcPr/>
                </a:tc>
                <a:tc>
                  <a:txBody>
                    <a:bodyPr/>
                    <a:lstStyle/>
                    <a:p>
                      <a:r>
                        <a:rPr sz="1400"/>
                        <a:t> 83.61</a:t>
                      </a:r>
                    </a:p>
                  </a:txBody>
                  <a:tcPr/>
                </a:tc>
                <a:tc>
                  <a:txBody>
                    <a:bodyPr/>
                    <a:lstStyle/>
                    <a:p>
                      <a:r>
                        <a:rPr sz="1400"/>
                        <a:t> 97.95</a:t>
                      </a:r>
                    </a:p>
                  </a:txBody>
                  <a:tcPr/>
                </a:tc>
                <a:tc>
                  <a:txBody>
                    <a:bodyPr/>
                    <a:lstStyle/>
                    <a:p>
                      <a:r>
                        <a:rPr sz="1400"/>
                        <a:t> 77.88</a:t>
                      </a:r>
                    </a:p>
                  </a:txBody>
                  <a:tcPr/>
                </a:tc>
              </a:tr>
              <a:tr h="0">
                <a:tc>
                  <a:txBody>
                    <a:bodyPr/>
                    <a:lstStyle/>
                    <a:p>
                      <a:r>
                        <a:rPr sz="1400"/>
                        <a:t>TQ 13</a:t>
                      </a:r>
                    </a:p>
                  </a:txBody>
                  <a:tcPr/>
                </a:tc>
                <a:tc>
                  <a:txBody>
                    <a:bodyPr/>
                    <a:lstStyle/>
                    <a:p>
                      <a:r>
                        <a:rPr sz="1400"/>
                        <a:t>  4.91</a:t>
                      </a:r>
                    </a:p>
                  </a:txBody>
                  <a:tcPr/>
                </a:tc>
                <a:tc>
                  <a:txBody>
                    <a:bodyPr/>
                    <a:lstStyle/>
                    <a:p>
                      <a:r>
                        <a:rPr sz="1400"/>
                        <a:t> 50.33</a:t>
                      </a:r>
                    </a:p>
                  </a:txBody>
                  <a:tcPr/>
                </a:tc>
                <a:tc>
                  <a:txBody>
                    <a:bodyPr/>
                    <a:lstStyle/>
                    <a:p>
                      <a:r>
                        <a:rPr sz="1400"/>
                        <a:t> 91.35</a:t>
                      </a:r>
                    </a:p>
                  </a:txBody>
                  <a:tcPr/>
                </a:tc>
                <a:tc>
                  <a:txBody>
                    <a:bodyPr/>
                    <a:lstStyle/>
                    <a:p>
                      <a:r>
                        <a:rPr sz="1400"/>
                        <a:t> 49.88</a:t>
                      </a:r>
                    </a:p>
                  </a:txBody>
                  <a:tcPr/>
                </a:tc>
                <a:tc>
                  <a:txBody>
                    <a:bodyPr/>
                    <a:lstStyle/>
                    <a:p>
                      <a:r>
                        <a:rPr sz="1400"/>
                        <a:t> 11.67</a:t>
                      </a:r>
                    </a:p>
                  </a:txBody>
                  <a:tcPr/>
                </a:tc>
                <a:tc>
                  <a:txBody>
                    <a:bodyPr/>
                    <a:lstStyle/>
                    <a:p>
                      <a:r>
                        <a:rPr sz="1400"/>
                        <a:t> 49.23</a:t>
                      </a:r>
                    </a:p>
                  </a:txBody>
                  <a:tcPr/>
                </a:tc>
                <a:tc>
                  <a:txBody>
                    <a:bodyPr/>
                    <a:lstStyle/>
                    <a:p>
                      <a:r>
                        <a:rPr sz="1400"/>
                        <a:t> 85.08</a:t>
                      </a:r>
                    </a:p>
                  </a:txBody>
                  <a:tcPr/>
                </a:tc>
                <a:tc>
                  <a:txBody>
                    <a:bodyPr/>
                    <a:lstStyle/>
                    <a:p>
                      <a:r>
                        <a:rPr sz="1400"/>
                        <a:t> 48.93</a:t>
                      </a:r>
                    </a:p>
                  </a:txBody>
                  <a:tcPr/>
                </a:tc>
              </a:tr>
              <a:tr h="0">
                <a:tc>
                  <a:txBody>
                    <a:bodyPr/>
                    <a:lstStyle/>
                    <a:p>
                      <a:r>
                        <a:rPr sz="1400"/>
                        <a:t>TQ 14</a:t>
                      </a:r>
                    </a:p>
                  </a:txBody>
                  <a:tcPr/>
                </a:tc>
                <a:tc>
                  <a:txBody>
                    <a:bodyPr/>
                    <a:lstStyle/>
                    <a:p>
                      <a:r>
                        <a:rPr sz="1400"/>
                        <a:t>  2.82</a:t>
                      </a:r>
                    </a:p>
                  </a:txBody>
                  <a:tcPr/>
                </a:tc>
                <a:tc>
                  <a:txBody>
                    <a:bodyPr/>
                    <a:lstStyle/>
                    <a:p>
                      <a:r>
                        <a:rPr sz="1400"/>
                        <a:t> 39.70</a:t>
                      </a:r>
                    </a:p>
                  </a:txBody>
                  <a:tcPr/>
                </a:tc>
                <a:tc>
                  <a:txBody>
                    <a:bodyPr/>
                    <a:lstStyle/>
                    <a:p>
                      <a:r>
                        <a:rPr sz="1400"/>
                        <a:t> 87.20</a:t>
                      </a:r>
                    </a:p>
                  </a:txBody>
                  <a:tcPr/>
                </a:tc>
                <a:tc>
                  <a:txBody>
                    <a:bodyPr/>
                    <a:lstStyle/>
                    <a:p>
                      <a:r>
                        <a:rPr sz="1400"/>
                        <a:t> 42.25</a:t>
                      </a:r>
                    </a:p>
                  </a:txBody>
                  <a:tcPr/>
                </a:tc>
                <a:tc>
                  <a:txBody>
                    <a:bodyPr/>
                    <a:lstStyle/>
                    <a:p>
                      <a:r>
                        <a:rPr sz="1400"/>
                        <a:t>  7.42</a:t>
                      </a:r>
                    </a:p>
                  </a:txBody>
                  <a:tcPr/>
                </a:tc>
                <a:tc>
                  <a:txBody>
                    <a:bodyPr/>
                    <a:lstStyle/>
                    <a:p>
                      <a:r>
                        <a:rPr sz="1400"/>
                        <a:t> 44.70</a:t>
                      </a:r>
                    </a:p>
                  </a:txBody>
                  <a:tcPr/>
                </a:tc>
                <a:tc>
                  <a:txBody>
                    <a:bodyPr/>
                    <a:lstStyle/>
                    <a:p>
                      <a:r>
                        <a:rPr sz="1400"/>
                        <a:t> 88.53</a:t>
                      </a:r>
                    </a:p>
                  </a:txBody>
                  <a:tcPr/>
                </a:tc>
                <a:tc>
                  <a:txBody>
                    <a:bodyPr/>
                    <a:lstStyle/>
                    <a:p>
                      <a:r>
                        <a:rPr sz="1400"/>
                        <a:t> 47.65</a:t>
                      </a:r>
                    </a:p>
                  </a:txBody>
                  <a:tcPr/>
                </a:tc>
              </a:tr>
              <a:tr h="0">
                <a:tc>
                  <a:txBody>
                    <a:bodyPr/>
                    <a:lstStyle/>
                    <a:p>
                      <a:r>
                        <a:rPr sz="1400"/>
                        <a:t>TQ 15</a:t>
                      </a:r>
                    </a:p>
                  </a:txBody>
                  <a:tcPr/>
                </a:tc>
                <a:tc>
                  <a:txBody>
                    <a:bodyPr/>
                    <a:lstStyle/>
                    <a:p>
                      <a:r>
                        <a:rPr sz="1400"/>
                        <a:t>  1.68</a:t>
                      </a:r>
                    </a:p>
                  </a:txBody>
                  <a:tcPr/>
                </a:tc>
                <a:tc>
                  <a:txBody>
                    <a:bodyPr/>
                    <a:lstStyle/>
                    <a:p>
                      <a:r>
                        <a:rPr sz="1400"/>
                        <a:t> 11.85</a:t>
                      </a:r>
                    </a:p>
                  </a:txBody>
                  <a:tcPr/>
                </a:tc>
                <a:tc>
                  <a:txBody>
                    <a:bodyPr/>
                    <a:lstStyle/>
                    <a:p>
                      <a:r>
                        <a:rPr sz="1400"/>
                        <a:t> 74.59</a:t>
                      </a:r>
                    </a:p>
                  </a:txBody>
                  <a:tcPr/>
                </a:tc>
                <a:tc>
                  <a:txBody>
                    <a:bodyPr/>
                    <a:lstStyle/>
                    <a:p>
                      <a:r>
                        <a:rPr sz="1400"/>
                        <a:t> 19.97</a:t>
                      </a:r>
                    </a:p>
                  </a:txBody>
                  <a:tcPr/>
                </a:tc>
                <a:tc>
                  <a:txBody>
                    <a:bodyPr/>
                    <a:lstStyle/>
                    <a:p>
                      <a:r>
                        <a:rPr sz="1400"/>
                        <a:t>  1.51</a:t>
                      </a:r>
                    </a:p>
                  </a:txBody>
                  <a:tcPr/>
                </a:tc>
                <a:tc>
                  <a:txBody>
                    <a:bodyPr/>
                    <a:lstStyle/>
                    <a:p>
                      <a:r>
                        <a:rPr sz="1400"/>
                        <a:t> 10.03</a:t>
                      </a:r>
                    </a:p>
                  </a:txBody>
                  <a:tcPr/>
                </a:tc>
                <a:tc>
                  <a:txBody>
                    <a:bodyPr/>
                    <a:lstStyle/>
                    <a:p>
                      <a:r>
                        <a:rPr sz="1400"/>
                        <a:t> 67.77</a:t>
                      </a:r>
                    </a:p>
                  </a:txBody>
                  <a:tcPr/>
                </a:tc>
                <a:tc>
                  <a:txBody>
                    <a:bodyPr/>
                    <a:lstStyle/>
                    <a:p>
                      <a:r>
                        <a:rPr sz="1400"/>
                        <a:t> 16.56</a:t>
                      </a:r>
                    </a:p>
                  </a:txBody>
                  <a:tcPr/>
                </a:tc>
              </a:tr>
              <a:tr h="0">
                <a:tc>
                  <a:txBody>
                    <a:bodyPr/>
                    <a:lstStyle/>
                    <a:p>
                      <a:r>
                        <a:rPr sz="1400"/>
                        <a:t>TQ 16</a:t>
                      </a:r>
                    </a:p>
                  </a:txBody>
                  <a:tcPr/>
                </a:tc>
                <a:tc>
                  <a:txBody>
                    <a:bodyPr/>
                    <a:lstStyle/>
                    <a:p>
                      <a:r>
                        <a:rPr sz="1400"/>
                        <a:t> 13.04</a:t>
                      </a:r>
                    </a:p>
                  </a:txBody>
                  <a:tcPr/>
                </a:tc>
                <a:tc>
                  <a:txBody>
                    <a:bodyPr/>
                    <a:lstStyle/>
                    <a:p>
                      <a:r>
                        <a:rPr sz="1400"/>
                        <a:t> 60.61</a:t>
                      </a:r>
                    </a:p>
                  </a:txBody>
                  <a:tcPr/>
                </a:tc>
                <a:tc>
                  <a:txBody>
                    <a:bodyPr/>
                    <a:lstStyle/>
                    <a:p>
                      <a:r>
                        <a:rPr sz="1400"/>
                        <a:t> 93.36</a:t>
                      </a:r>
                    </a:p>
                  </a:txBody>
                  <a:tcPr/>
                </a:tc>
                <a:tc>
                  <a:txBody>
                    <a:bodyPr/>
                    <a:lstStyle/>
                    <a:p>
                      <a:r>
                        <a:rPr sz="1400"/>
                        <a:t> 57.59</a:t>
                      </a:r>
                    </a:p>
                  </a:txBody>
                  <a:tcPr/>
                </a:tc>
                <a:tc>
                  <a:txBody>
                    <a:bodyPr/>
                    <a:lstStyle/>
                    <a:p>
                      <a:r>
                        <a:rPr sz="1400"/>
                        <a:t> 18.72</a:t>
                      </a:r>
                    </a:p>
                  </a:txBody>
                  <a:tcPr/>
                </a:tc>
                <a:tc>
                  <a:txBody>
                    <a:bodyPr/>
                    <a:lstStyle/>
                    <a:p>
                      <a:r>
                        <a:rPr sz="1400"/>
                        <a:t> 75.36</a:t>
                      </a:r>
                    </a:p>
                  </a:txBody>
                  <a:tcPr/>
                </a:tc>
                <a:tc>
                  <a:txBody>
                    <a:bodyPr/>
                    <a:lstStyle/>
                    <a:p>
                      <a:r>
                        <a:rPr sz="1400"/>
                        <a:t> 93.67</a:t>
                      </a:r>
                    </a:p>
                  </a:txBody>
                  <a:tcPr/>
                </a:tc>
                <a:tc>
                  <a:txBody>
                    <a:bodyPr/>
                    <a:lstStyle/>
                    <a:p>
                      <a:r>
                        <a:rPr sz="1400"/>
                        <a:t> 66.68</a:t>
                      </a:r>
                    </a:p>
                  </a:txBody>
                  <a:tcPr/>
                </a:tc>
              </a:tr>
              <a:tr h="0">
                <a:tc>
                  <a:txBody>
                    <a:bodyPr/>
                    <a:lstStyle/>
                    <a:p>
                      <a:r>
                        <a:rPr sz="1400"/>
                        <a:t>TQ 17</a:t>
                      </a:r>
                    </a:p>
                  </a:txBody>
                  <a:tcPr/>
                </a:tc>
                <a:tc>
                  <a:txBody>
                    <a:bodyPr/>
                    <a:lstStyle/>
                    <a:p>
                      <a:r>
                        <a:rPr sz="1400"/>
                        <a:t> 11.69</a:t>
                      </a:r>
                    </a:p>
                  </a:txBody>
                  <a:tcPr/>
                </a:tc>
                <a:tc>
                  <a:txBody>
                    <a:bodyPr/>
                    <a:lstStyle/>
                    <a:p>
                      <a:r>
                        <a:rPr sz="1400"/>
                        <a:t> 51.92</a:t>
                      </a:r>
                    </a:p>
                  </a:txBody>
                  <a:tcPr/>
                </a:tc>
                <a:tc>
                  <a:txBody>
                    <a:bodyPr/>
                    <a:lstStyle/>
                    <a:p>
                      <a:r>
                        <a:rPr sz="1400"/>
                        <a:t> 90.27</a:t>
                      </a:r>
                    </a:p>
                  </a:txBody>
                  <a:tcPr/>
                </a:tc>
                <a:tc>
                  <a:txBody>
                    <a:bodyPr/>
                    <a:lstStyle/>
                    <a:p>
                      <a:r>
                        <a:rPr sz="1400"/>
                        <a:t> 49.76</a:t>
                      </a:r>
                    </a:p>
                  </a:txBody>
                  <a:tcPr/>
                </a:tc>
                <a:tc>
                  <a:txBody>
                    <a:bodyPr/>
                    <a:lstStyle/>
                    <a:p>
                      <a:r>
                        <a:rPr sz="1400"/>
                        <a:t> 12.67</a:t>
                      </a:r>
                    </a:p>
                  </a:txBody>
                  <a:tcPr/>
                </a:tc>
                <a:tc>
                  <a:txBody>
                    <a:bodyPr/>
                    <a:lstStyle/>
                    <a:p>
                      <a:r>
                        <a:rPr sz="1400"/>
                        <a:t> 61.85</a:t>
                      </a:r>
                    </a:p>
                  </a:txBody>
                  <a:tcPr/>
                </a:tc>
                <a:tc>
                  <a:txBody>
                    <a:bodyPr/>
                    <a:lstStyle/>
                    <a:p>
                      <a:r>
                        <a:rPr sz="1400"/>
                        <a:t> 93.18</a:t>
                      </a:r>
                    </a:p>
                  </a:txBody>
                  <a:tcPr/>
                </a:tc>
                <a:tc>
                  <a:txBody>
                    <a:bodyPr/>
                    <a:lstStyle/>
                    <a:p>
                      <a:r>
                        <a:rPr sz="1400"/>
                        <a:t> 58.34</a:t>
                      </a:r>
                    </a:p>
                  </a:txBody>
                  <a:tcPr/>
                </a:tc>
              </a:tr>
              <a:tr h="1">
                <a:tc>
                  <a:txBody>
                    <a:bodyPr/>
                    <a:lstStyle/>
                    <a:p>
                      <a:r>
                        <a:rPr sz="1400"/>
                        <a:t>TQ 18</a:t>
                      </a:r>
                    </a:p>
                  </a:txBody>
                  <a:tcPr/>
                </a:tc>
                <a:tc>
                  <a:txBody>
                    <a:bodyPr/>
                    <a:lstStyle/>
                    <a:p>
                      <a:r>
                        <a:rPr sz="1400"/>
                        <a:t>  5.28</a:t>
                      </a:r>
                    </a:p>
                  </a:txBody>
                  <a:tcPr/>
                </a:tc>
                <a:tc>
                  <a:txBody>
                    <a:bodyPr/>
                    <a:lstStyle/>
                    <a:p>
                      <a:r>
                        <a:rPr sz="1400"/>
                        <a:t> 30.18</a:t>
                      </a:r>
                    </a:p>
                  </a:txBody>
                  <a:tcPr/>
                </a:tc>
                <a:tc>
                  <a:txBody>
                    <a:bodyPr/>
                    <a:lstStyle/>
                    <a:p>
                      <a:r>
                        <a:rPr sz="1400"/>
                        <a:t> 81.01</a:t>
                      </a:r>
                    </a:p>
                  </a:txBody>
                  <a:tcPr/>
                </a:tc>
                <a:tc>
                  <a:txBody>
                    <a:bodyPr/>
                    <a:lstStyle/>
                    <a:p>
                      <a:r>
                        <a:rPr sz="1400"/>
                        <a:t> 34.95</a:t>
                      </a:r>
                    </a:p>
                  </a:txBody>
                  <a:tcPr/>
                </a:tc>
                <a:tc>
                  <a:txBody>
                    <a:bodyPr/>
                    <a:lstStyle/>
                    <a:p>
                      <a:r>
                        <a:rPr sz="1400"/>
                        <a:t>  7.16</a:t>
                      </a:r>
                    </a:p>
                  </a:txBody>
                  <a:tcPr/>
                </a:tc>
                <a:tc>
                  <a:txBody>
                    <a:bodyPr/>
                    <a:lstStyle/>
                    <a:p>
                      <a:r>
                        <a:rPr sz="1400"/>
                        <a:t> 39.54</a:t>
                      </a:r>
                    </a:p>
                  </a:txBody>
                  <a:tcPr/>
                </a:tc>
                <a:tc>
                  <a:txBody>
                    <a:bodyPr/>
                    <a:lstStyle/>
                    <a:p>
                      <a:r>
                        <a:rPr sz="1400"/>
                        <a:t> 84.97</a:t>
                      </a:r>
                    </a:p>
                  </a:txBody>
                  <a:tcPr/>
                </a:tc>
                <a:tc>
                  <a:txBody>
                    <a:bodyPr/>
                    <a:lstStyle/>
                    <a:p>
                      <a:r>
                        <a:rPr sz="1400"/>
                        <a:t> 41.16</a:t>
                      </a:r>
                    </a:p>
                  </a:txBody>
                  <a:tcPr/>
                </a:tc>
              </a:tr>
            </a:tbl>
          </a:graphicData>
        </a:graphic>
      </p:graphicFrame>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Percentiles of target questions</a:t>
            </a:r>
          </a:p>
        </p:txBody>
      </p:sp>
      <p:graphicFrame>
        <p:nvGraphicFramePr>
          <p:cNvPr id="3" name="Table 2"/>
          <p:cNvGraphicFramePr>
            <a:graphicFrameLocks noGrp="1"/>
          </p:cNvGraphicFramePr>
          <p:nvPr/>
        </p:nvGraphicFramePr>
        <p:xfrm>
          <a:off x="914400" y="1828800"/>
          <a:ext cx="12801600" cy="SHAPE_TO_FIT_TEXT (1)"/>
        </p:xfrm>
        <a:graphic>
          <a:graphicData uri="http://schemas.openxmlformats.org/drawingml/2006/table">
            <a:tbl>
              <a:tblPr firstRow="1" bandRow="1">
                <a:tableStyleId>{5C22544A-7EE6-4342-B048-85BDC9FD1C3A}</a:tableStyleId>
              </a:tblPr>
              <a:tblGrid>
                <a:gridCol w="1422400"/>
                <a:gridCol w="1422400"/>
                <a:gridCol w="1422400"/>
                <a:gridCol w="1422400"/>
                <a:gridCol w="1422400"/>
                <a:gridCol w="1422400"/>
                <a:gridCol w="1422400"/>
                <a:gridCol w="1422400"/>
                <a:gridCol w="1422400"/>
              </a:tblGrid>
              <a:tr h="0">
                <a:tc>
                  <a:txBody>
                    <a:bodyPr/>
                    <a:lstStyle/>
                    <a:p/>
                  </a:txBody>
                  <a:tcPr/>
                </a:tc>
                <a:tc>
                  <a:txBody>
                    <a:bodyPr/>
                    <a:lstStyle/>
                    <a:p>
                      <a:r>
                        <a:rPr sz="1400"/>
                        <a:t>Q05 (EW)</a:t>
                      </a:r>
                    </a:p>
                  </a:txBody>
                  <a:tcPr/>
                </a:tc>
                <a:tc>
                  <a:txBody>
                    <a:bodyPr/>
                    <a:lstStyle/>
                    <a:p>
                      <a:r>
                        <a:rPr sz="1400"/>
                        <a:t>Q50 (EW)</a:t>
                      </a:r>
                    </a:p>
                  </a:txBody>
                  <a:tcPr/>
                </a:tc>
                <a:tc>
                  <a:txBody>
                    <a:bodyPr/>
                    <a:lstStyle/>
                    <a:p>
                      <a:r>
                        <a:rPr sz="1400"/>
                        <a:t>Q95 (EW)</a:t>
                      </a:r>
                    </a:p>
                  </a:txBody>
                  <a:tcPr/>
                </a:tc>
                <a:tc>
                  <a:txBody>
                    <a:bodyPr/>
                    <a:lstStyle/>
                    <a:p>
                      <a:r>
                        <a:rPr sz="1400"/>
                        <a:t>Qmean (EW)</a:t>
                      </a:r>
                    </a:p>
                  </a:txBody>
                  <a:tcPr/>
                </a:tc>
                <a:tc>
                  <a:txBody>
                    <a:bodyPr/>
                    <a:lstStyle/>
                    <a:p>
                      <a:r>
                        <a:rPr sz="1400"/>
                        <a:t>Q05 (Cooke)</a:t>
                      </a:r>
                    </a:p>
                  </a:txBody>
                  <a:tcPr/>
                </a:tc>
                <a:tc>
                  <a:txBody>
                    <a:bodyPr/>
                    <a:lstStyle/>
                    <a:p>
                      <a:r>
                        <a:rPr sz="1400"/>
                        <a:t>Q50 (Cooke)</a:t>
                      </a:r>
                    </a:p>
                  </a:txBody>
                  <a:tcPr/>
                </a:tc>
                <a:tc>
                  <a:txBody>
                    <a:bodyPr/>
                    <a:lstStyle/>
                    <a:p>
                      <a:r>
                        <a:rPr sz="1400"/>
                        <a:t>Q95 (Cooke)</a:t>
                      </a:r>
                    </a:p>
                  </a:txBody>
                  <a:tcPr/>
                </a:tc>
                <a:tc>
                  <a:txBody>
                    <a:bodyPr/>
                    <a:lstStyle/>
                    <a:p>
                      <a:r>
                        <a:rPr sz="1400"/>
                        <a:t>Qmean (Cooke)</a:t>
                      </a:r>
                    </a:p>
                  </a:txBody>
                  <a:tcPr/>
                </a:tc>
              </a:tr>
              <a:tr h="0">
                <a:tc>
                  <a:txBody>
                    <a:bodyPr/>
                    <a:lstStyle/>
                    <a:p>
                      <a:r>
                        <a:rPr sz="1400"/>
                        <a:t>TQ 19</a:t>
                      </a:r>
                    </a:p>
                  </a:txBody>
                  <a:tcPr/>
                </a:tc>
                <a:tc>
                  <a:txBody>
                    <a:bodyPr/>
                    <a:lstStyle/>
                    <a:p>
                      <a:r>
                        <a:rPr sz="1400"/>
                        <a:t>  1.35</a:t>
                      </a:r>
                    </a:p>
                  </a:txBody>
                  <a:tcPr/>
                </a:tc>
                <a:tc>
                  <a:txBody>
                    <a:bodyPr/>
                    <a:lstStyle/>
                    <a:p>
                      <a:r>
                        <a:rPr sz="1400"/>
                        <a:t> 14.75</a:t>
                      </a:r>
                    </a:p>
                  </a:txBody>
                  <a:tcPr/>
                </a:tc>
                <a:tc>
                  <a:txBody>
                    <a:bodyPr/>
                    <a:lstStyle/>
                    <a:p>
                      <a:r>
                        <a:rPr sz="1400"/>
                        <a:t> 58.41</a:t>
                      </a:r>
                    </a:p>
                  </a:txBody>
                  <a:tcPr/>
                </a:tc>
                <a:tc>
                  <a:txBody>
                    <a:bodyPr/>
                    <a:lstStyle/>
                    <a:p>
                      <a:r>
                        <a:rPr sz="1400"/>
                        <a:t> 19.96</a:t>
                      </a:r>
                    </a:p>
                  </a:txBody>
                  <a:tcPr/>
                </a:tc>
                <a:tc>
                  <a:txBody>
                    <a:bodyPr/>
                    <a:lstStyle/>
                    <a:p>
                      <a:r>
                        <a:rPr sz="1400"/>
                        <a:t>  2.38</a:t>
                      </a:r>
                    </a:p>
                  </a:txBody>
                  <a:tcPr/>
                </a:tc>
                <a:tc>
                  <a:txBody>
                    <a:bodyPr/>
                    <a:lstStyle/>
                    <a:p>
                      <a:r>
                        <a:rPr sz="1400"/>
                        <a:t> 19.56</a:t>
                      </a:r>
                    </a:p>
                  </a:txBody>
                  <a:tcPr/>
                </a:tc>
                <a:tc>
                  <a:txBody>
                    <a:bodyPr/>
                    <a:lstStyle/>
                    <a:p>
                      <a:r>
                        <a:rPr sz="1400"/>
                        <a:t> 46.00</a:t>
                      </a:r>
                    </a:p>
                  </a:txBody>
                  <a:tcPr/>
                </a:tc>
                <a:tc>
                  <a:txBody>
                    <a:bodyPr/>
                    <a:lstStyle/>
                    <a:p>
                      <a:r>
                        <a:rPr sz="1400"/>
                        <a:t> 21.18</a:t>
                      </a:r>
                    </a:p>
                  </a:txBody>
                  <a:tcPr/>
                </a:tc>
              </a:tr>
              <a:tr h="0">
                <a:tc>
                  <a:txBody>
                    <a:bodyPr/>
                    <a:lstStyle/>
                    <a:p>
                      <a:r>
                        <a:rPr sz="1400"/>
                        <a:t>TQ 20</a:t>
                      </a:r>
                    </a:p>
                  </a:txBody>
                  <a:tcPr/>
                </a:tc>
                <a:tc>
                  <a:txBody>
                    <a:bodyPr/>
                    <a:lstStyle/>
                    <a:p>
                      <a:r>
                        <a:rPr sz="1400"/>
                        <a:t>  1.26</a:t>
                      </a:r>
                    </a:p>
                  </a:txBody>
                  <a:tcPr/>
                </a:tc>
                <a:tc>
                  <a:txBody>
                    <a:bodyPr/>
                    <a:lstStyle/>
                    <a:p>
                      <a:r>
                        <a:rPr sz="1400"/>
                        <a:t> 10.49</a:t>
                      </a:r>
                    </a:p>
                  </a:txBody>
                  <a:tcPr/>
                </a:tc>
                <a:tc>
                  <a:txBody>
                    <a:bodyPr/>
                    <a:lstStyle/>
                    <a:p>
                      <a:r>
                        <a:rPr sz="1400"/>
                        <a:t> 54.98</a:t>
                      </a:r>
                    </a:p>
                  </a:txBody>
                  <a:tcPr/>
                </a:tc>
                <a:tc>
                  <a:txBody>
                    <a:bodyPr/>
                    <a:lstStyle/>
                    <a:p>
                      <a:r>
                        <a:rPr sz="1400"/>
                        <a:t> 16.84</a:t>
                      </a:r>
                    </a:p>
                  </a:txBody>
                  <a:tcPr/>
                </a:tc>
                <a:tc>
                  <a:txBody>
                    <a:bodyPr/>
                    <a:lstStyle/>
                    <a:p>
                      <a:r>
                        <a:rPr sz="1400"/>
                        <a:t>  1.62</a:t>
                      </a:r>
                    </a:p>
                  </a:txBody>
                  <a:tcPr/>
                </a:tc>
                <a:tc>
                  <a:txBody>
                    <a:bodyPr/>
                    <a:lstStyle/>
                    <a:p>
                      <a:r>
                        <a:rPr sz="1400"/>
                        <a:t>  8.90</a:t>
                      </a:r>
                    </a:p>
                  </a:txBody>
                  <a:tcPr/>
                </a:tc>
                <a:tc>
                  <a:txBody>
                    <a:bodyPr/>
                    <a:lstStyle/>
                    <a:p>
                      <a:r>
                        <a:rPr sz="1400"/>
                        <a:t> 42.33</a:t>
                      </a:r>
                    </a:p>
                  </a:txBody>
                  <a:tcPr/>
                </a:tc>
                <a:tc>
                  <a:txBody>
                    <a:bodyPr/>
                    <a:lstStyle/>
                    <a:p>
                      <a:r>
                        <a:rPr sz="1400"/>
                        <a:t> 13.15</a:t>
                      </a:r>
                    </a:p>
                  </a:txBody>
                  <a:tcPr/>
                </a:tc>
              </a:tr>
              <a:tr h="0">
                <a:tc>
                  <a:txBody>
                    <a:bodyPr/>
                    <a:lstStyle/>
                    <a:p>
                      <a:r>
                        <a:rPr sz="1400"/>
                        <a:t>TQ 21</a:t>
                      </a:r>
                    </a:p>
                  </a:txBody>
                  <a:tcPr/>
                </a:tc>
                <a:tc>
                  <a:txBody>
                    <a:bodyPr/>
                    <a:lstStyle/>
                    <a:p>
                      <a:r>
                        <a:rPr sz="1400"/>
                        <a:t>9.24E+00</a:t>
                      </a:r>
                    </a:p>
                  </a:txBody>
                  <a:tcPr/>
                </a:tc>
                <a:tc>
                  <a:txBody>
                    <a:bodyPr/>
                    <a:lstStyle/>
                    <a:p>
                      <a:r>
                        <a:rPr sz="1400"/>
                        <a:t>1.92E+02</a:t>
                      </a:r>
                    </a:p>
                  </a:txBody>
                  <a:tcPr/>
                </a:tc>
                <a:tc>
                  <a:txBody>
                    <a:bodyPr/>
                    <a:lstStyle/>
                    <a:p>
                      <a:r>
                        <a:rPr sz="1400"/>
                        <a:t>4.16E+03</a:t>
                      </a:r>
                    </a:p>
                  </a:txBody>
                  <a:tcPr/>
                </a:tc>
                <a:tc>
                  <a:txBody>
                    <a:bodyPr/>
                    <a:lstStyle/>
                    <a:p>
                      <a:r>
                        <a:rPr sz="1400"/>
                        <a:t>1.71E+02</a:t>
                      </a:r>
                    </a:p>
                  </a:txBody>
                  <a:tcPr/>
                </a:tc>
                <a:tc>
                  <a:txBody>
                    <a:bodyPr/>
                    <a:lstStyle/>
                    <a:p>
                      <a:r>
                        <a:rPr sz="1400"/>
                        <a:t>1.64E+01</a:t>
                      </a:r>
                    </a:p>
                  </a:txBody>
                  <a:tcPr/>
                </a:tc>
                <a:tc>
                  <a:txBody>
                    <a:bodyPr/>
                    <a:lstStyle/>
                    <a:p>
                      <a:r>
                        <a:rPr sz="1400"/>
                        <a:t>1.53E+02</a:t>
                      </a:r>
                    </a:p>
                  </a:txBody>
                  <a:tcPr/>
                </a:tc>
                <a:tc>
                  <a:txBody>
                    <a:bodyPr/>
                    <a:lstStyle/>
                    <a:p>
                      <a:r>
                        <a:rPr sz="1400"/>
                        <a:t>6.09E+03</a:t>
                      </a:r>
                    </a:p>
                  </a:txBody>
                  <a:tcPr/>
                </a:tc>
                <a:tc>
                  <a:txBody>
                    <a:bodyPr/>
                    <a:lstStyle/>
                    <a:p>
                      <a:r>
                        <a:rPr sz="1400"/>
                        <a:t>1.93E+02</a:t>
                      </a:r>
                    </a:p>
                  </a:txBody>
                  <a:tcPr/>
                </a:tc>
              </a:tr>
              <a:tr h="0">
                <a:tc>
                  <a:txBody>
                    <a:bodyPr/>
                    <a:lstStyle/>
                    <a:p>
                      <a:r>
                        <a:rPr sz="1400"/>
                        <a:t>TQ 22</a:t>
                      </a:r>
                    </a:p>
                  </a:txBody>
                  <a:tcPr/>
                </a:tc>
                <a:tc>
                  <a:txBody>
                    <a:bodyPr/>
                    <a:lstStyle/>
                    <a:p>
                      <a:r>
                        <a:rPr sz="1400"/>
                        <a:t>7.94E+05</a:t>
                      </a:r>
                    </a:p>
                  </a:txBody>
                  <a:tcPr/>
                </a:tc>
                <a:tc>
                  <a:txBody>
                    <a:bodyPr/>
                    <a:lstStyle/>
                    <a:p>
                      <a:r>
                        <a:rPr sz="1400"/>
                        <a:t>3.37E+10</a:t>
                      </a:r>
                    </a:p>
                  </a:txBody>
                  <a:tcPr/>
                </a:tc>
                <a:tc>
                  <a:txBody>
                    <a:bodyPr/>
                    <a:lstStyle/>
                    <a:p>
                      <a:r>
                        <a:rPr sz="1400"/>
                        <a:t>7.63E+11</a:t>
                      </a:r>
                    </a:p>
                  </a:txBody>
                  <a:tcPr/>
                </a:tc>
                <a:tc>
                  <a:txBody>
                    <a:bodyPr/>
                    <a:lstStyle/>
                    <a:p>
                      <a:r>
                        <a:rPr sz="1400"/>
                        <a:t>1.29E+10</a:t>
                      </a:r>
                    </a:p>
                  </a:txBody>
                  <a:tcPr/>
                </a:tc>
                <a:tc>
                  <a:txBody>
                    <a:bodyPr/>
                    <a:lstStyle/>
                    <a:p>
                      <a:r>
                        <a:rPr sz="1400"/>
                        <a:t>3.08E+09</a:t>
                      </a:r>
                    </a:p>
                  </a:txBody>
                  <a:tcPr/>
                </a:tc>
                <a:tc>
                  <a:txBody>
                    <a:bodyPr/>
                    <a:lstStyle/>
                    <a:p>
                      <a:r>
                        <a:rPr sz="1400"/>
                        <a:t>5.13E+10</a:t>
                      </a:r>
                    </a:p>
                  </a:txBody>
                  <a:tcPr/>
                </a:tc>
                <a:tc>
                  <a:txBody>
                    <a:bodyPr/>
                    <a:lstStyle/>
                    <a:p>
                      <a:r>
                        <a:rPr sz="1400"/>
                        <a:t>7.51E+11</a:t>
                      </a:r>
                    </a:p>
                  </a:txBody>
                  <a:tcPr/>
                </a:tc>
                <a:tc>
                  <a:txBody>
                    <a:bodyPr/>
                    <a:lstStyle/>
                    <a:p>
                      <a:r>
                        <a:rPr sz="1400"/>
                        <a:t>5.12E+10</a:t>
                      </a:r>
                    </a:p>
                  </a:txBody>
                  <a:tcPr/>
                </a:tc>
              </a:tr>
              <a:tr h="0">
                <a:tc>
                  <a:txBody>
                    <a:bodyPr/>
                    <a:lstStyle/>
                    <a:p>
                      <a:r>
                        <a:rPr sz="1400"/>
                        <a:t>TQ 23</a:t>
                      </a:r>
                    </a:p>
                  </a:txBody>
                  <a:tcPr/>
                </a:tc>
                <a:tc>
                  <a:txBody>
                    <a:bodyPr/>
                    <a:lstStyle/>
                    <a:p>
                      <a:r>
                        <a:rPr sz="1400"/>
                        <a:t>1.66E+03</a:t>
                      </a:r>
                    </a:p>
                  </a:txBody>
                  <a:tcPr/>
                </a:tc>
                <a:tc>
                  <a:txBody>
                    <a:bodyPr/>
                    <a:lstStyle/>
                    <a:p>
                      <a:r>
                        <a:rPr sz="1400"/>
                        <a:t>1.67E+04</a:t>
                      </a:r>
                    </a:p>
                  </a:txBody>
                  <a:tcPr/>
                </a:tc>
                <a:tc>
                  <a:txBody>
                    <a:bodyPr/>
                    <a:lstStyle/>
                    <a:p>
                      <a:r>
                        <a:rPr sz="1400"/>
                        <a:t>2.78E+04</a:t>
                      </a:r>
                    </a:p>
                  </a:txBody>
                  <a:tcPr/>
                </a:tc>
                <a:tc>
                  <a:txBody>
                    <a:bodyPr/>
                    <a:lstStyle/>
                    <a:p>
                      <a:r>
                        <a:rPr sz="1400"/>
                        <a:t>1.36E+04</a:t>
                      </a:r>
                    </a:p>
                  </a:txBody>
                  <a:tcPr/>
                </a:tc>
                <a:tc>
                  <a:txBody>
                    <a:bodyPr/>
                    <a:lstStyle/>
                    <a:p>
                      <a:r>
                        <a:rPr sz="1400"/>
                        <a:t>6.58E+03</a:t>
                      </a:r>
                    </a:p>
                  </a:txBody>
                  <a:tcPr/>
                </a:tc>
                <a:tc>
                  <a:txBody>
                    <a:bodyPr/>
                    <a:lstStyle/>
                    <a:p>
                      <a:r>
                        <a:rPr sz="1400"/>
                        <a:t>1.59E+04</a:t>
                      </a:r>
                    </a:p>
                  </a:txBody>
                  <a:tcPr/>
                </a:tc>
                <a:tc>
                  <a:txBody>
                    <a:bodyPr/>
                    <a:lstStyle/>
                    <a:p>
                      <a:r>
                        <a:rPr sz="1400"/>
                        <a:t>2.53E+04</a:t>
                      </a:r>
                    </a:p>
                  </a:txBody>
                  <a:tcPr/>
                </a:tc>
                <a:tc>
                  <a:txBody>
                    <a:bodyPr/>
                    <a:lstStyle/>
                    <a:p>
                      <a:r>
                        <a:rPr sz="1400"/>
                        <a:t>1.47E+04</a:t>
                      </a:r>
                    </a:p>
                  </a:txBody>
                  <a:tcPr/>
                </a:tc>
              </a:tr>
              <a:tr h="0">
                <a:tc>
                  <a:txBody>
                    <a:bodyPr/>
                    <a:lstStyle/>
                    <a:p>
                      <a:r>
                        <a:rPr sz="1400"/>
                        <a:t>TQ 24</a:t>
                      </a:r>
                    </a:p>
                  </a:txBody>
                  <a:tcPr/>
                </a:tc>
                <a:tc>
                  <a:txBody>
                    <a:bodyPr/>
                    <a:lstStyle/>
                    <a:p>
                      <a:r>
                        <a:rPr sz="1400"/>
                        <a:t>1.49E+01</a:t>
                      </a:r>
                    </a:p>
                  </a:txBody>
                  <a:tcPr/>
                </a:tc>
                <a:tc>
                  <a:txBody>
                    <a:bodyPr/>
                    <a:lstStyle/>
                    <a:p>
                      <a:r>
                        <a:rPr sz="1400"/>
                        <a:t>3.35E+02</a:t>
                      </a:r>
                    </a:p>
                  </a:txBody>
                  <a:tcPr/>
                </a:tc>
                <a:tc>
                  <a:txBody>
                    <a:bodyPr/>
                    <a:lstStyle/>
                    <a:p>
                      <a:r>
                        <a:rPr sz="1400"/>
                        <a:t>9.76E+03</a:t>
                      </a:r>
                    </a:p>
                  </a:txBody>
                  <a:tcPr/>
                </a:tc>
                <a:tc>
                  <a:txBody>
                    <a:bodyPr/>
                    <a:lstStyle/>
                    <a:p>
                      <a:r>
                        <a:rPr sz="1400"/>
                        <a:t>2.94E+02</a:t>
                      </a:r>
                    </a:p>
                  </a:txBody>
                  <a:tcPr/>
                </a:tc>
                <a:tc>
                  <a:txBody>
                    <a:bodyPr/>
                    <a:lstStyle/>
                    <a:p>
                      <a:r>
                        <a:rPr sz="1400"/>
                        <a:t>2.90E+01</a:t>
                      </a:r>
                    </a:p>
                  </a:txBody>
                  <a:tcPr/>
                </a:tc>
                <a:tc>
                  <a:txBody>
                    <a:bodyPr/>
                    <a:lstStyle/>
                    <a:p>
                      <a:r>
                        <a:rPr sz="1400"/>
                        <a:t>3.51E+02</a:t>
                      </a:r>
                    </a:p>
                  </a:txBody>
                  <a:tcPr/>
                </a:tc>
                <a:tc>
                  <a:txBody>
                    <a:bodyPr/>
                    <a:lstStyle/>
                    <a:p>
                      <a:r>
                        <a:rPr sz="1400"/>
                        <a:t>1.26E+04</a:t>
                      </a:r>
                    </a:p>
                  </a:txBody>
                  <a:tcPr/>
                </a:tc>
                <a:tc>
                  <a:txBody>
                    <a:bodyPr/>
                    <a:lstStyle/>
                    <a:p>
                      <a:r>
                        <a:rPr sz="1400"/>
                        <a:t>3.75E+02</a:t>
                      </a:r>
                    </a:p>
                  </a:txBody>
                  <a:tcPr/>
                </a:tc>
              </a:tr>
              <a:tr h="0">
                <a:tc>
                  <a:txBody>
                    <a:bodyPr/>
                    <a:lstStyle/>
                    <a:p>
                      <a:r>
                        <a:rPr sz="1400"/>
                        <a:t>TQ 25</a:t>
                      </a:r>
                    </a:p>
                  </a:txBody>
                  <a:tcPr/>
                </a:tc>
                <a:tc>
                  <a:txBody>
                    <a:bodyPr/>
                    <a:lstStyle/>
                    <a:p>
                      <a:r>
                        <a:rPr sz="1400"/>
                        <a:t>5.77E+05</a:t>
                      </a:r>
                    </a:p>
                  </a:txBody>
                  <a:tcPr/>
                </a:tc>
                <a:tc>
                  <a:txBody>
                    <a:bodyPr/>
                    <a:lstStyle/>
                    <a:p>
                      <a:r>
                        <a:rPr sz="1400"/>
                        <a:t>4.70E+11</a:t>
                      </a:r>
                    </a:p>
                  </a:txBody>
                  <a:tcPr/>
                </a:tc>
                <a:tc>
                  <a:txBody>
                    <a:bodyPr/>
                    <a:lstStyle/>
                    <a:p>
                      <a:r>
                        <a:rPr sz="1400"/>
                        <a:t>3.02E+13</a:t>
                      </a:r>
                    </a:p>
                  </a:txBody>
                  <a:tcPr/>
                </a:tc>
                <a:tc>
                  <a:txBody>
                    <a:bodyPr/>
                    <a:lstStyle/>
                    <a:p>
                      <a:r>
                        <a:rPr sz="1400"/>
                        <a:t>1.57E+11</a:t>
                      </a:r>
                    </a:p>
                  </a:txBody>
                  <a:tcPr/>
                </a:tc>
                <a:tc>
                  <a:txBody>
                    <a:bodyPr/>
                    <a:lstStyle/>
                    <a:p>
                      <a:r>
                        <a:rPr sz="1400"/>
                        <a:t>2.64E+10</a:t>
                      </a:r>
                    </a:p>
                  </a:txBody>
                  <a:tcPr/>
                </a:tc>
                <a:tc>
                  <a:txBody>
                    <a:bodyPr/>
                    <a:lstStyle/>
                    <a:p>
                      <a:r>
                        <a:rPr sz="1400"/>
                        <a:t>4.19E+11</a:t>
                      </a:r>
                    </a:p>
                  </a:txBody>
                  <a:tcPr/>
                </a:tc>
                <a:tc>
                  <a:txBody>
                    <a:bodyPr/>
                    <a:lstStyle/>
                    <a:p>
                      <a:r>
                        <a:rPr sz="1400"/>
                        <a:t>6.45E+12</a:t>
                      </a:r>
                    </a:p>
                  </a:txBody>
                  <a:tcPr/>
                </a:tc>
                <a:tc>
                  <a:txBody>
                    <a:bodyPr/>
                    <a:lstStyle/>
                    <a:p>
                      <a:r>
                        <a:rPr sz="1400"/>
                        <a:t>4.36E+11</a:t>
                      </a:r>
                    </a:p>
                  </a:txBody>
                  <a:tcPr/>
                </a:tc>
              </a:tr>
              <a:tr h="0">
                <a:tc>
                  <a:txBody>
                    <a:bodyPr/>
                    <a:lstStyle/>
                    <a:p>
                      <a:r>
                        <a:rPr sz="1400"/>
                        <a:t>TQ 26</a:t>
                      </a:r>
                    </a:p>
                  </a:txBody>
                  <a:tcPr/>
                </a:tc>
                <a:tc>
                  <a:txBody>
                    <a:bodyPr/>
                    <a:lstStyle/>
                    <a:p>
                      <a:r>
                        <a:rPr sz="1400"/>
                        <a:t>5.32E+03</a:t>
                      </a:r>
                    </a:p>
                  </a:txBody>
                  <a:tcPr/>
                </a:tc>
                <a:tc>
                  <a:txBody>
                    <a:bodyPr/>
                    <a:lstStyle/>
                    <a:p>
                      <a:r>
                        <a:rPr sz="1400"/>
                        <a:t>2.63E+04</a:t>
                      </a:r>
                    </a:p>
                  </a:txBody>
                  <a:tcPr/>
                </a:tc>
                <a:tc>
                  <a:txBody>
                    <a:bodyPr/>
                    <a:lstStyle/>
                    <a:p>
                      <a:r>
                        <a:rPr sz="1400"/>
                        <a:t>4.11E+04</a:t>
                      </a:r>
                    </a:p>
                  </a:txBody>
                  <a:tcPr/>
                </a:tc>
                <a:tc>
                  <a:txBody>
                    <a:bodyPr/>
                    <a:lstStyle/>
                    <a:p>
                      <a:r>
                        <a:rPr sz="1400"/>
                        <a:t>2.21E+04</a:t>
                      </a:r>
                    </a:p>
                  </a:txBody>
                  <a:tcPr/>
                </a:tc>
                <a:tc>
                  <a:txBody>
                    <a:bodyPr/>
                    <a:lstStyle/>
                    <a:p>
                      <a:r>
                        <a:rPr sz="1400"/>
                        <a:t>1.11E+04</a:t>
                      </a:r>
                    </a:p>
                  </a:txBody>
                  <a:tcPr/>
                </a:tc>
                <a:tc>
                  <a:txBody>
                    <a:bodyPr/>
                    <a:lstStyle/>
                    <a:p>
                      <a:r>
                        <a:rPr sz="1400"/>
                        <a:t>2.45E+04</a:t>
                      </a:r>
                    </a:p>
                  </a:txBody>
                  <a:tcPr/>
                </a:tc>
                <a:tc>
                  <a:txBody>
                    <a:bodyPr/>
                    <a:lstStyle/>
                    <a:p>
                      <a:r>
                        <a:rPr sz="1400"/>
                        <a:t>3.93E+04</a:t>
                      </a:r>
                    </a:p>
                  </a:txBody>
                  <a:tcPr/>
                </a:tc>
                <a:tc>
                  <a:txBody>
                    <a:bodyPr/>
                    <a:lstStyle/>
                    <a:p>
                      <a:r>
                        <a:rPr sz="1400"/>
                        <a:t>2.33E+04</a:t>
                      </a:r>
                    </a:p>
                  </a:txBody>
                  <a:tcPr/>
                </a:tc>
              </a:tr>
              <a:tr h="0">
                <a:tc>
                  <a:txBody>
                    <a:bodyPr/>
                    <a:lstStyle/>
                    <a:p>
                      <a:r>
                        <a:rPr sz="1400"/>
                        <a:t>TQ 27</a:t>
                      </a:r>
                    </a:p>
                  </a:txBody>
                  <a:tcPr/>
                </a:tc>
                <a:tc>
                  <a:txBody>
                    <a:bodyPr/>
                    <a:lstStyle/>
                    <a:p>
                      <a:r>
                        <a:rPr sz="1400"/>
                        <a:t>3.20E+01</a:t>
                      </a:r>
                    </a:p>
                  </a:txBody>
                  <a:tcPr/>
                </a:tc>
                <a:tc>
                  <a:txBody>
                    <a:bodyPr/>
                    <a:lstStyle/>
                    <a:p>
                      <a:r>
                        <a:rPr sz="1400"/>
                        <a:t>4.48E+04</a:t>
                      </a:r>
                    </a:p>
                  </a:txBody>
                  <a:tcPr/>
                </a:tc>
                <a:tc>
                  <a:txBody>
                    <a:bodyPr/>
                    <a:lstStyle/>
                    <a:p>
                      <a:r>
                        <a:rPr sz="1400"/>
                        <a:t>8.22E+05</a:t>
                      </a:r>
                    </a:p>
                  </a:txBody>
                  <a:tcPr/>
                </a:tc>
                <a:tc>
                  <a:txBody>
                    <a:bodyPr/>
                    <a:lstStyle/>
                    <a:p>
                      <a:r>
                        <a:rPr sz="1400"/>
                        <a:t>1.75E+04</a:t>
                      </a:r>
                    </a:p>
                  </a:txBody>
                  <a:tcPr/>
                </a:tc>
                <a:tc>
                  <a:txBody>
                    <a:bodyPr/>
                    <a:lstStyle/>
                    <a:p>
                      <a:r>
                        <a:rPr sz="1400"/>
                        <a:t>2.84E+02</a:t>
                      </a:r>
                    </a:p>
                  </a:txBody>
                  <a:tcPr/>
                </a:tc>
                <a:tc>
                  <a:txBody>
                    <a:bodyPr/>
                    <a:lstStyle/>
                    <a:p>
                      <a:r>
                        <a:rPr sz="1400"/>
                        <a:t>4.30E+04</a:t>
                      </a:r>
                    </a:p>
                  </a:txBody>
                  <a:tcPr/>
                </a:tc>
                <a:tc>
                  <a:txBody>
                    <a:bodyPr/>
                    <a:lstStyle/>
                    <a:p>
                      <a:r>
                        <a:rPr sz="1400"/>
                        <a:t>1.09E+06</a:t>
                      </a:r>
                    </a:p>
                  </a:txBody>
                  <a:tcPr/>
                </a:tc>
                <a:tc>
                  <a:txBody>
                    <a:bodyPr/>
                    <a:lstStyle/>
                    <a:p>
                      <a:r>
                        <a:rPr sz="1400"/>
                        <a:t>3.31E+04</a:t>
                      </a:r>
                    </a:p>
                  </a:txBody>
                  <a:tcPr/>
                </a:tc>
              </a:tr>
              <a:tr h="0">
                <a:tc>
                  <a:txBody>
                    <a:bodyPr/>
                    <a:lstStyle/>
                    <a:p>
                      <a:r>
                        <a:rPr sz="1400"/>
                        <a:t>TQ 28</a:t>
                      </a:r>
                    </a:p>
                  </a:txBody>
                  <a:tcPr/>
                </a:tc>
                <a:tc>
                  <a:txBody>
                    <a:bodyPr/>
                    <a:lstStyle/>
                    <a:p>
                      <a:r>
                        <a:rPr sz="1400"/>
                        <a:t>1.68E+04</a:t>
                      </a:r>
                    </a:p>
                  </a:txBody>
                  <a:tcPr/>
                </a:tc>
                <a:tc>
                  <a:txBody>
                    <a:bodyPr/>
                    <a:lstStyle/>
                    <a:p>
                      <a:r>
                        <a:rPr sz="1400"/>
                        <a:t>8.14E+08</a:t>
                      </a:r>
                    </a:p>
                  </a:txBody>
                  <a:tcPr/>
                </a:tc>
                <a:tc>
                  <a:txBody>
                    <a:bodyPr/>
                    <a:lstStyle/>
                    <a:p>
                      <a:r>
                        <a:rPr sz="1400"/>
                        <a:t>6.36E+10</a:t>
                      </a:r>
                    </a:p>
                  </a:txBody>
                  <a:tcPr/>
                </a:tc>
                <a:tc>
                  <a:txBody>
                    <a:bodyPr/>
                    <a:lstStyle/>
                    <a:p>
                      <a:r>
                        <a:rPr sz="1400"/>
                        <a:t>2.01E+08</a:t>
                      </a:r>
                    </a:p>
                  </a:txBody>
                  <a:tcPr/>
                </a:tc>
                <a:tc>
                  <a:txBody>
                    <a:bodyPr/>
                    <a:lstStyle/>
                    <a:p>
                      <a:r>
                        <a:rPr sz="1400"/>
                        <a:t>1.58E+05</a:t>
                      </a:r>
                    </a:p>
                  </a:txBody>
                  <a:tcPr/>
                </a:tc>
                <a:tc>
                  <a:txBody>
                    <a:bodyPr/>
                    <a:lstStyle/>
                    <a:p>
                      <a:r>
                        <a:rPr sz="1400"/>
                        <a:t>8.61E+08</a:t>
                      </a:r>
                    </a:p>
                  </a:txBody>
                  <a:tcPr/>
                </a:tc>
                <a:tc>
                  <a:txBody>
                    <a:bodyPr/>
                    <a:lstStyle/>
                    <a:p>
                      <a:r>
                        <a:rPr sz="1400"/>
                        <a:t>1.10E+11</a:t>
                      </a:r>
                    </a:p>
                  </a:txBody>
                  <a:tcPr/>
                </a:tc>
                <a:tc>
                  <a:txBody>
                    <a:bodyPr/>
                    <a:lstStyle/>
                    <a:p>
                      <a:r>
                        <a:rPr sz="1400"/>
                        <a:t>4.78E+08</a:t>
                      </a:r>
                    </a:p>
                  </a:txBody>
                  <a:tcPr/>
                </a:tc>
              </a:tr>
              <a:tr h="0">
                <a:tc>
                  <a:txBody>
                    <a:bodyPr/>
                    <a:lstStyle/>
                    <a:p>
                      <a:r>
                        <a:rPr sz="1400"/>
                        <a:t>TQ 29</a:t>
                      </a:r>
                    </a:p>
                  </a:txBody>
                  <a:tcPr/>
                </a:tc>
                <a:tc>
                  <a:txBody>
                    <a:bodyPr/>
                    <a:lstStyle/>
                    <a:p>
                      <a:r>
                        <a:rPr sz="1400"/>
                        <a:t>2.19E+02</a:t>
                      </a:r>
                    </a:p>
                  </a:txBody>
                  <a:tcPr/>
                </a:tc>
                <a:tc>
                  <a:txBody>
                    <a:bodyPr/>
                    <a:lstStyle/>
                    <a:p>
                      <a:r>
                        <a:rPr sz="1400"/>
                        <a:t>3.01E+03</a:t>
                      </a:r>
                    </a:p>
                  </a:txBody>
                  <a:tcPr/>
                </a:tc>
                <a:tc>
                  <a:txBody>
                    <a:bodyPr/>
                    <a:lstStyle/>
                    <a:p>
                      <a:r>
                        <a:rPr sz="1400"/>
                        <a:t>1.30E+04</a:t>
                      </a:r>
                    </a:p>
                  </a:txBody>
                  <a:tcPr/>
                </a:tc>
                <a:tc>
                  <a:txBody>
                    <a:bodyPr/>
                    <a:lstStyle/>
                    <a:p>
                      <a:r>
                        <a:rPr sz="1400"/>
                        <a:t>2.68E+03</a:t>
                      </a:r>
                    </a:p>
                  </a:txBody>
                  <a:tcPr/>
                </a:tc>
                <a:tc>
                  <a:txBody>
                    <a:bodyPr/>
                    <a:lstStyle/>
                    <a:p>
                      <a:r>
                        <a:rPr sz="1400"/>
                        <a:t>3.25E+02</a:t>
                      </a:r>
                    </a:p>
                  </a:txBody>
                  <a:tcPr/>
                </a:tc>
                <a:tc>
                  <a:txBody>
                    <a:bodyPr/>
                    <a:lstStyle/>
                    <a:p>
                      <a:r>
                        <a:rPr sz="1400"/>
                        <a:t>3.95E+03</a:t>
                      </a:r>
                    </a:p>
                  </a:txBody>
                  <a:tcPr/>
                </a:tc>
                <a:tc>
                  <a:txBody>
                    <a:bodyPr/>
                    <a:lstStyle/>
                    <a:p>
                      <a:r>
                        <a:rPr sz="1400"/>
                        <a:t>1.37E+04</a:t>
                      </a:r>
                    </a:p>
                  </a:txBody>
                  <a:tcPr/>
                </a:tc>
                <a:tc>
                  <a:txBody>
                    <a:bodyPr/>
                    <a:lstStyle/>
                    <a:p>
                      <a:r>
                        <a:rPr sz="1400"/>
                        <a:t>3.29E+03</a:t>
                      </a:r>
                    </a:p>
                  </a:txBody>
                  <a:tcPr/>
                </a:tc>
              </a:tr>
              <a:tr h="0">
                <a:tc>
                  <a:txBody>
                    <a:bodyPr/>
                    <a:lstStyle/>
                    <a:p>
                      <a:r>
                        <a:rPr sz="1400"/>
                        <a:t>TQ 30</a:t>
                      </a:r>
                    </a:p>
                  </a:txBody>
                  <a:tcPr/>
                </a:tc>
                <a:tc>
                  <a:txBody>
                    <a:bodyPr/>
                    <a:lstStyle/>
                    <a:p>
                      <a:r>
                        <a:rPr sz="1400"/>
                        <a:t>6.27E+00</a:t>
                      </a:r>
                    </a:p>
                  </a:txBody>
                  <a:tcPr/>
                </a:tc>
                <a:tc>
                  <a:txBody>
                    <a:bodyPr/>
                    <a:lstStyle/>
                    <a:p>
                      <a:r>
                        <a:rPr sz="1400"/>
                        <a:t>4.56E+01</a:t>
                      </a:r>
                    </a:p>
                  </a:txBody>
                  <a:tcPr/>
                </a:tc>
                <a:tc>
                  <a:txBody>
                    <a:bodyPr/>
                    <a:lstStyle/>
                    <a:p>
                      <a:r>
                        <a:rPr sz="1400"/>
                        <a:t>4.06E+03</a:t>
                      </a:r>
                    </a:p>
                  </a:txBody>
                  <a:tcPr/>
                </a:tc>
                <a:tc>
                  <a:txBody>
                    <a:bodyPr/>
                    <a:lstStyle/>
                    <a:p>
                      <a:r>
                        <a:rPr sz="1400"/>
                        <a:t>7.33E+01</a:t>
                      </a:r>
                    </a:p>
                  </a:txBody>
                  <a:tcPr/>
                </a:tc>
                <a:tc>
                  <a:txBody>
                    <a:bodyPr/>
                    <a:lstStyle/>
                    <a:p>
                      <a:r>
                        <a:rPr sz="1400"/>
                        <a:t>6.57E+00</a:t>
                      </a:r>
                    </a:p>
                  </a:txBody>
                  <a:tcPr/>
                </a:tc>
                <a:tc>
                  <a:txBody>
                    <a:bodyPr/>
                    <a:lstStyle/>
                    <a:p>
                      <a:r>
                        <a:rPr sz="1400"/>
                        <a:t>4.36E+01</a:t>
                      </a:r>
                    </a:p>
                  </a:txBody>
                  <a:tcPr/>
                </a:tc>
                <a:tc>
                  <a:txBody>
                    <a:bodyPr/>
                    <a:lstStyle/>
                    <a:p>
                      <a:r>
                        <a:rPr sz="1400"/>
                        <a:t>3.93E+03</a:t>
                      </a:r>
                    </a:p>
                  </a:txBody>
                  <a:tcPr/>
                </a:tc>
                <a:tc>
                  <a:txBody>
                    <a:bodyPr/>
                    <a:lstStyle/>
                    <a:p>
                      <a:r>
                        <a:rPr sz="1400"/>
                        <a:t>6.65E+01</a:t>
                      </a:r>
                    </a:p>
                  </a:txBody>
                  <a:tcPr/>
                </a:tc>
              </a:tr>
              <a:tr h="0">
                <a:tc>
                  <a:txBody>
                    <a:bodyPr/>
                    <a:lstStyle/>
                    <a:p>
                      <a:r>
                        <a:rPr sz="1400"/>
                        <a:t>TQ 31</a:t>
                      </a:r>
                    </a:p>
                  </a:txBody>
                  <a:tcPr/>
                </a:tc>
                <a:tc>
                  <a:txBody>
                    <a:bodyPr/>
                    <a:lstStyle/>
                    <a:p>
                      <a:r>
                        <a:rPr sz="1400"/>
                        <a:t>4.73E+06</a:t>
                      </a:r>
                    </a:p>
                  </a:txBody>
                  <a:tcPr/>
                </a:tc>
                <a:tc>
                  <a:txBody>
                    <a:bodyPr/>
                    <a:lstStyle/>
                    <a:p>
                      <a:r>
                        <a:rPr sz="1400"/>
                        <a:t>9.32E+08</a:t>
                      </a:r>
                    </a:p>
                  </a:txBody>
                  <a:tcPr/>
                </a:tc>
                <a:tc>
                  <a:txBody>
                    <a:bodyPr/>
                    <a:lstStyle/>
                    <a:p>
                      <a:r>
                        <a:rPr sz="1400"/>
                        <a:t>5.42E+10</a:t>
                      </a:r>
                    </a:p>
                  </a:txBody>
                  <a:tcPr/>
                </a:tc>
                <a:tc>
                  <a:txBody>
                    <a:bodyPr/>
                    <a:lstStyle/>
                    <a:p>
                      <a:r>
                        <a:rPr sz="1400"/>
                        <a:t>8.37E+08</a:t>
                      </a:r>
                    </a:p>
                  </a:txBody>
                  <a:tcPr/>
                </a:tc>
                <a:tc>
                  <a:txBody>
                    <a:bodyPr/>
                    <a:lstStyle/>
                    <a:p>
                      <a:r>
                        <a:rPr sz="1400"/>
                        <a:t>1.79E+07</a:t>
                      </a:r>
                    </a:p>
                  </a:txBody>
                  <a:tcPr/>
                </a:tc>
                <a:tc>
                  <a:txBody>
                    <a:bodyPr/>
                    <a:lstStyle/>
                    <a:p>
                      <a:r>
                        <a:rPr sz="1400"/>
                        <a:t>5.88E+09</a:t>
                      </a:r>
                    </a:p>
                  </a:txBody>
                  <a:tcPr/>
                </a:tc>
                <a:tc>
                  <a:txBody>
                    <a:bodyPr/>
                    <a:lstStyle/>
                    <a:p>
                      <a:r>
                        <a:rPr sz="1400"/>
                        <a:t>7.90E+10</a:t>
                      </a:r>
                    </a:p>
                  </a:txBody>
                  <a:tcPr/>
                </a:tc>
                <a:tc>
                  <a:txBody>
                    <a:bodyPr/>
                    <a:lstStyle/>
                    <a:p>
                      <a:r>
                        <a:rPr sz="1400"/>
                        <a:t>3.55E+09</a:t>
                      </a:r>
                    </a:p>
                  </a:txBody>
                  <a:tcPr/>
                </a:tc>
              </a:tr>
              <a:tr h="0">
                <a:tc>
                  <a:txBody>
                    <a:bodyPr/>
                    <a:lstStyle/>
                    <a:p>
                      <a:r>
                        <a:rPr sz="1400"/>
                        <a:t>TQ 32</a:t>
                      </a:r>
                    </a:p>
                  </a:txBody>
                  <a:tcPr/>
                </a:tc>
                <a:tc>
                  <a:txBody>
                    <a:bodyPr/>
                    <a:lstStyle/>
                    <a:p>
                      <a:r>
                        <a:rPr sz="1400"/>
                        <a:t>1.49E+03</a:t>
                      </a:r>
                    </a:p>
                  </a:txBody>
                  <a:tcPr/>
                </a:tc>
                <a:tc>
                  <a:txBody>
                    <a:bodyPr/>
                    <a:lstStyle/>
                    <a:p>
                      <a:r>
                        <a:rPr sz="1400"/>
                        <a:t>9.57E+03</a:t>
                      </a:r>
                    </a:p>
                  </a:txBody>
                  <a:tcPr/>
                </a:tc>
                <a:tc>
                  <a:txBody>
                    <a:bodyPr/>
                    <a:lstStyle/>
                    <a:p>
                      <a:r>
                        <a:rPr sz="1400"/>
                        <a:t>2.73E+04</a:t>
                      </a:r>
                    </a:p>
                  </a:txBody>
                  <a:tcPr/>
                </a:tc>
                <a:tc>
                  <a:txBody>
                    <a:bodyPr/>
                    <a:lstStyle/>
                    <a:p>
                      <a:r>
                        <a:rPr sz="1400"/>
                        <a:t>8.15E+03</a:t>
                      </a:r>
                    </a:p>
                  </a:txBody>
                  <a:tcPr/>
                </a:tc>
                <a:tc>
                  <a:txBody>
                    <a:bodyPr/>
                    <a:lstStyle/>
                    <a:p>
                      <a:r>
                        <a:rPr sz="1400"/>
                        <a:t>1.73E+03</a:t>
                      </a:r>
                    </a:p>
                  </a:txBody>
                  <a:tcPr/>
                </a:tc>
                <a:tc>
                  <a:txBody>
                    <a:bodyPr/>
                    <a:lstStyle/>
                    <a:p>
                      <a:r>
                        <a:rPr sz="1400"/>
                        <a:t>8.34E+03</a:t>
                      </a:r>
                    </a:p>
                  </a:txBody>
                  <a:tcPr/>
                </a:tc>
                <a:tc>
                  <a:txBody>
                    <a:bodyPr/>
                    <a:lstStyle/>
                    <a:p>
                      <a:r>
                        <a:rPr sz="1400"/>
                        <a:t>1.71E+04</a:t>
                      </a:r>
                    </a:p>
                  </a:txBody>
                  <a:tcPr/>
                </a:tc>
                <a:tc>
                  <a:txBody>
                    <a:bodyPr/>
                    <a:lstStyle/>
                    <a:p>
                      <a:r>
                        <a:rPr sz="1400"/>
                        <a:t>7.30E+03</a:t>
                      </a:r>
                    </a:p>
                  </a:txBody>
                  <a:tcPr/>
                </a:tc>
              </a:tr>
              <a:tr h="0">
                <a:tc>
                  <a:txBody>
                    <a:bodyPr/>
                    <a:lstStyle/>
                    <a:p>
                      <a:r>
                        <a:rPr sz="1400"/>
                        <a:t>TQ 33</a:t>
                      </a:r>
                    </a:p>
                  </a:txBody>
                  <a:tcPr/>
                </a:tc>
                <a:tc>
                  <a:txBody>
                    <a:bodyPr/>
                    <a:lstStyle/>
                    <a:p>
                      <a:r>
                        <a:rPr sz="1400"/>
                        <a:t>8.47E+00</a:t>
                      </a:r>
                    </a:p>
                  </a:txBody>
                  <a:tcPr/>
                </a:tc>
                <a:tc>
                  <a:txBody>
                    <a:bodyPr/>
                    <a:lstStyle/>
                    <a:p>
                      <a:r>
                        <a:rPr sz="1400"/>
                        <a:t>5.82E+01</a:t>
                      </a:r>
                    </a:p>
                  </a:txBody>
                  <a:tcPr/>
                </a:tc>
                <a:tc>
                  <a:txBody>
                    <a:bodyPr/>
                    <a:lstStyle/>
                    <a:p>
                      <a:r>
                        <a:rPr sz="1400"/>
                        <a:t>4.93E+03</a:t>
                      </a:r>
                    </a:p>
                  </a:txBody>
                  <a:tcPr/>
                </a:tc>
                <a:tc>
                  <a:txBody>
                    <a:bodyPr/>
                    <a:lstStyle/>
                    <a:p>
                      <a:r>
                        <a:rPr sz="1400"/>
                        <a:t>8.09E+01</a:t>
                      </a:r>
                    </a:p>
                  </a:txBody>
                  <a:tcPr/>
                </a:tc>
                <a:tc>
                  <a:txBody>
                    <a:bodyPr/>
                    <a:lstStyle/>
                    <a:p>
                      <a:r>
                        <a:rPr sz="1400"/>
                        <a:t>9.32E+00</a:t>
                      </a:r>
                    </a:p>
                  </a:txBody>
                  <a:tcPr/>
                </a:tc>
                <a:tc>
                  <a:txBody>
                    <a:bodyPr/>
                    <a:lstStyle/>
                    <a:p>
                      <a:r>
                        <a:rPr sz="1400"/>
                        <a:t>7.80E+01</a:t>
                      </a:r>
                    </a:p>
                  </a:txBody>
                  <a:tcPr/>
                </a:tc>
                <a:tc>
                  <a:txBody>
                    <a:bodyPr/>
                    <a:lstStyle/>
                    <a:p>
                      <a:r>
                        <a:rPr sz="1400"/>
                        <a:t>9.51E+03</a:t>
                      </a:r>
                    </a:p>
                  </a:txBody>
                  <a:tcPr/>
                </a:tc>
                <a:tc>
                  <a:txBody>
                    <a:bodyPr/>
                    <a:lstStyle/>
                    <a:p>
                      <a:r>
                        <a:rPr sz="1400"/>
                        <a:t>1.19E+02</a:t>
                      </a:r>
                    </a:p>
                  </a:txBody>
                  <a:tcPr/>
                </a:tc>
              </a:tr>
              <a:tr h="0">
                <a:tc>
                  <a:txBody>
                    <a:bodyPr/>
                    <a:lstStyle/>
                    <a:p>
                      <a:r>
                        <a:rPr sz="1400"/>
                        <a:t>TQ 34</a:t>
                      </a:r>
                    </a:p>
                  </a:txBody>
                  <a:tcPr/>
                </a:tc>
                <a:tc>
                  <a:txBody>
                    <a:bodyPr/>
                    <a:lstStyle/>
                    <a:p>
                      <a:r>
                        <a:rPr sz="1400"/>
                        <a:t>3.99E+07</a:t>
                      </a:r>
                    </a:p>
                  </a:txBody>
                  <a:tcPr/>
                </a:tc>
                <a:tc>
                  <a:txBody>
                    <a:bodyPr/>
                    <a:lstStyle/>
                    <a:p>
                      <a:r>
                        <a:rPr sz="1400"/>
                        <a:t>1.83E+10</a:t>
                      </a:r>
                    </a:p>
                  </a:txBody>
                  <a:tcPr/>
                </a:tc>
                <a:tc>
                  <a:txBody>
                    <a:bodyPr/>
                    <a:lstStyle/>
                    <a:p>
                      <a:r>
                        <a:rPr sz="1400"/>
                        <a:t>3.08E+11</a:t>
                      </a:r>
                    </a:p>
                  </a:txBody>
                  <a:tcPr/>
                </a:tc>
                <a:tc>
                  <a:txBody>
                    <a:bodyPr/>
                    <a:lstStyle/>
                    <a:p>
                      <a:r>
                        <a:rPr sz="1400"/>
                        <a:t>1.04E+10</a:t>
                      </a:r>
                    </a:p>
                  </a:txBody>
                  <a:tcPr/>
                </a:tc>
                <a:tc>
                  <a:txBody>
                    <a:bodyPr/>
                    <a:lstStyle/>
                    <a:p>
                      <a:r>
                        <a:rPr sz="1400"/>
                        <a:t>1.31E+09</a:t>
                      </a:r>
                    </a:p>
                  </a:txBody>
                  <a:tcPr/>
                </a:tc>
                <a:tc>
                  <a:txBody>
                    <a:bodyPr/>
                    <a:lstStyle/>
                    <a:p>
                      <a:r>
                        <a:rPr sz="1400"/>
                        <a:t>3.26E+10</a:t>
                      </a:r>
                    </a:p>
                  </a:txBody>
                  <a:tcPr/>
                </a:tc>
                <a:tc>
                  <a:txBody>
                    <a:bodyPr/>
                    <a:lstStyle/>
                    <a:p>
                      <a:r>
                        <a:rPr sz="1400"/>
                        <a:t>3.96E+11</a:t>
                      </a:r>
                    </a:p>
                  </a:txBody>
                  <a:tcPr/>
                </a:tc>
                <a:tc>
                  <a:txBody>
                    <a:bodyPr/>
                    <a:lstStyle/>
                    <a:p>
                      <a:r>
                        <a:rPr sz="1400"/>
                        <a:t>2.75E+10</a:t>
                      </a:r>
                    </a:p>
                  </a:txBody>
                  <a:tcPr/>
                </a:tc>
              </a:tr>
              <a:tr h="0">
                <a:tc>
                  <a:txBody>
                    <a:bodyPr/>
                    <a:lstStyle/>
                    <a:p>
                      <a:r>
                        <a:rPr sz="1400"/>
                        <a:t>TQ 35</a:t>
                      </a:r>
                    </a:p>
                  </a:txBody>
                  <a:tcPr/>
                </a:tc>
                <a:tc>
                  <a:txBody>
                    <a:bodyPr/>
                    <a:lstStyle/>
                    <a:p>
                      <a:r>
                        <a:rPr sz="1400"/>
                        <a:t>7.30E+03</a:t>
                      </a:r>
                    </a:p>
                  </a:txBody>
                  <a:tcPr/>
                </a:tc>
                <a:tc>
                  <a:txBody>
                    <a:bodyPr/>
                    <a:lstStyle/>
                    <a:p>
                      <a:r>
                        <a:rPr sz="1400"/>
                        <a:t>1.92E+04</a:t>
                      </a:r>
                    </a:p>
                  </a:txBody>
                  <a:tcPr/>
                </a:tc>
                <a:tc>
                  <a:txBody>
                    <a:bodyPr/>
                    <a:lstStyle/>
                    <a:p>
                      <a:r>
                        <a:rPr sz="1400"/>
                        <a:t>2.79E+04</a:t>
                      </a:r>
                    </a:p>
                  </a:txBody>
                  <a:tcPr/>
                </a:tc>
                <a:tc>
                  <a:txBody>
                    <a:bodyPr/>
                    <a:lstStyle/>
                    <a:p>
                      <a:r>
                        <a:rPr sz="1400"/>
                        <a:t>1.74E+04</a:t>
                      </a:r>
                    </a:p>
                  </a:txBody>
                  <a:tcPr/>
                </a:tc>
                <a:tc>
                  <a:txBody>
                    <a:bodyPr/>
                    <a:lstStyle/>
                    <a:p>
                      <a:r>
                        <a:rPr sz="1400"/>
                        <a:t>6.78E+03</a:t>
                      </a:r>
                    </a:p>
                  </a:txBody>
                  <a:tcPr/>
                </a:tc>
                <a:tc>
                  <a:txBody>
                    <a:bodyPr/>
                    <a:lstStyle/>
                    <a:p>
                      <a:r>
                        <a:rPr sz="1400"/>
                        <a:t>1.81E+04</a:t>
                      </a:r>
                    </a:p>
                  </a:txBody>
                  <a:tcPr/>
                </a:tc>
                <a:tc>
                  <a:txBody>
                    <a:bodyPr/>
                    <a:lstStyle/>
                    <a:p>
                      <a:r>
                        <a:rPr sz="1400"/>
                        <a:t>2.53E+04</a:t>
                      </a:r>
                    </a:p>
                  </a:txBody>
                  <a:tcPr/>
                </a:tc>
                <a:tc>
                  <a:txBody>
                    <a:bodyPr/>
                    <a:lstStyle/>
                    <a:p>
                      <a:r>
                        <a:rPr sz="1400"/>
                        <a:t>1.63E+04</a:t>
                      </a:r>
                    </a:p>
                  </a:txBody>
                  <a:tcPr/>
                </a:tc>
              </a:tr>
              <a:tr h="1">
                <a:tc>
                  <a:txBody>
                    <a:bodyPr/>
                    <a:lstStyle/>
                    <a:p>
                      <a:r>
                        <a:rPr sz="1400"/>
                        <a:t>TQ 36</a:t>
                      </a:r>
                    </a:p>
                  </a:txBody>
                  <a:tcPr/>
                </a:tc>
                <a:tc>
                  <a:txBody>
                    <a:bodyPr/>
                    <a:lstStyle/>
                    <a:p>
                      <a:r>
                        <a:rPr sz="1400"/>
                        <a:t>1.26E+01</a:t>
                      </a:r>
                    </a:p>
                  </a:txBody>
                  <a:tcPr/>
                </a:tc>
                <a:tc>
                  <a:txBody>
                    <a:bodyPr/>
                    <a:lstStyle/>
                    <a:p>
                      <a:r>
                        <a:rPr sz="1400"/>
                        <a:t>1.55E+02</a:t>
                      </a:r>
                    </a:p>
                  </a:txBody>
                  <a:tcPr/>
                </a:tc>
                <a:tc>
                  <a:txBody>
                    <a:bodyPr/>
                    <a:lstStyle/>
                    <a:p>
                      <a:r>
                        <a:rPr sz="1400"/>
                        <a:t>1.32E+04</a:t>
                      </a:r>
                    </a:p>
                  </a:txBody>
                  <a:tcPr/>
                </a:tc>
                <a:tc>
                  <a:txBody>
                    <a:bodyPr/>
                    <a:lstStyle/>
                    <a:p>
                      <a:r>
                        <a:rPr sz="1400"/>
                        <a:t>1.88E+02</a:t>
                      </a:r>
                    </a:p>
                  </a:txBody>
                  <a:tcPr/>
                </a:tc>
                <a:tc>
                  <a:txBody>
                    <a:bodyPr/>
                    <a:lstStyle/>
                    <a:p>
                      <a:r>
                        <a:rPr sz="1400"/>
                        <a:t>1.20E+01</a:t>
                      </a:r>
                    </a:p>
                  </a:txBody>
                  <a:tcPr/>
                </a:tc>
                <a:tc>
                  <a:txBody>
                    <a:bodyPr/>
                    <a:lstStyle/>
                    <a:p>
                      <a:r>
                        <a:rPr sz="1400"/>
                        <a:t>1.73E+02</a:t>
                      </a:r>
                    </a:p>
                  </a:txBody>
                  <a:tcPr/>
                </a:tc>
                <a:tc>
                  <a:txBody>
                    <a:bodyPr/>
                    <a:lstStyle/>
                    <a:p>
                      <a:r>
                        <a:rPr sz="1400"/>
                        <a:t>1.88E+04</a:t>
                      </a:r>
                    </a:p>
                  </a:txBody>
                  <a:tcPr/>
                </a:tc>
                <a:tc>
                  <a:txBody>
                    <a:bodyPr/>
                    <a:lstStyle/>
                    <a:p>
                      <a:r>
                        <a:rPr sz="1400"/>
                        <a:t>2.34E+02</a:t>
                      </a:r>
                    </a:p>
                  </a:txBody>
                  <a:tcPr/>
                </a:tc>
              </a:tr>
            </a:tbl>
          </a:graphicData>
        </a:graphic>
      </p:graphicFrame>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Percentiles of target questions</a:t>
            </a:r>
          </a:p>
        </p:txBody>
      </p:sp>
      <p:graphicFrame>
        <p:nvGraphicFramePr>
          <p:cNvPr id="3" name="Table 2"/>
          <p:cNvGraphicFramePr>
            <a:graphicFrameLocks noGrp="1"/>
          </p:cNvGraphicFramePr>
          <p:nvPr/>
        </p:nvGraphicFramePr>
        <p:xfrm>
          <a:off x="914400" y="1828800"/>
          <a:ext cx="12801600" cy="SHAPE_TO_FIT_TEXT (1)"/>
        </p:xfrm>
        <a:graphic>
          <a:graphicData uri="http://schemas.openxmlformats.org/drawingml/2006/table">
            <a:tbl>
              <a:tblPr firstRow="1" bandRow="1">
                <a:tableStyleId>{5C22544A-7EE6-4342-B048-85BDC9FD1C3A}</a:tableStyleId>
              </a:tblPr>
              <a:tblGrid>
                <a:gridCol w="1422400"/>
                <a:gridCol w="1422400"/>
                <a:gridCol w="1422400"/>
                <a:gridCol w="1422400"/>
                <a:gridCol w="1422400"/>
                <a:gridCol w="1422400"/>
                <a:gridCol w="1422400"/>
                <a:gridCol w="1422400"/>
                <a:gridCol w="1422400"/>
              </a:tblGrid>
              <a:tr h="0">
                <a:tc>
                  <a:txBody>
                    <a:bodyPr/>
                    <a:lstStyle/>
                    <a:p/>
                  </a:txBody>
                  <a:tcPr/>
                </a:tc>
                <a:tc>
                  <a:txBody>
                    <a:bodyPr/>
                    <a:lstStyle/>
                    <a:p>
                      <a:r>
                        <a:rPr sz="1400"/>
                        <a:t>Q05 (EW)</a:t>
                      </a:r>
                    </a:p>
                  </a:txBody>
                  <a:tcPr/>
                </a:tc>
                <a:tc>
                  <a:txBody>
                    <a:bodyPr/>
                    <a:lstStyle/>
                    <a:p>
                      <a:r>
                        <a:rPr sz="1400"/>
                        <a:t>Q50 (EW)</a:t>
                      </a:r>
                    </a:p>
                  </a:txBody>
                  <a:tcPr/>
                </a:tc>
                <a:tc>
                  <a:txBody>
                    <a:bodyPr/>
                    <a:lstStyle/>
                    <a:p>
                      <a:r>
                        <a:rPr sz="1400"/>
                        <a:t>Q95 (EW)</a:t>
                      </a:r>
                    </a:p>
                  </a:txBody>
                  <a:tcPr/>
                </a:tc>
                <a:tc>
                  <a:txBody>
                    <a:bodyPr/>
                    <a:lstStyle/>
                    <a:p>
                      <a:r>
                        <a:rPr sz="1400"/>
                        <a:t>Qmean (EW)</a:t>
                      </a:r>
                    </a:p>
                  </a:txBody>
                  <a:tcPr/>
                </a:tc>
                <a:tc>
                  <a:txBody>
                    <a:bodyPr/>
                    <a:lstStyle/>
                    <a:p>
                      <a:r>
                        <a:rPr sz="1400"/>
                        <a:t>Q05 (Cooke)</a:t>
                      </a:r>
                    </a:p>
                  </a:txBody>
                  <a:tcPr/>
                </a:tc>
                <a:tc>
                  <a:txBody>
                    <a:bodyPr/>
                    <a:lstStyle/>
                    <a:p>
                      <a:r>
                        <a:rPr sz="1400"/>
                        <a:t>Q50 (Cooke)</a:t>
                      </a:r>
                    </a:p>
                  </a:txBody>
                  <a:tcPr/>
                </a:tc>
                <a:tc>
                  <a:txBody>
                    <a:bodyPr/>
                    <a:lstStyle/>
                    <a:p>
                      <a:r>
                        <a:rPr sz="1400"/>
                        <a:t>Q95 (Cooke)</a:t>
                      </a:r>
                    </a:p>
                  </a:txBody>
                  <a:tcPr/>
                </a:tc>
                <a:tc>
                  <a:txBody>
                    <a:bodyPr/>
                    <a:lstStyle/>
                    <a:p>
                      <a:r>
                        <a:rPr sz="1400"/>
                        <a:t>Qmean (Cooke)</a:t>
                      </a:r>
                    </a:p>
                  </a:txBody>
                  <a:tcPr/>
                </a:tc>
              </a:tr>
              <a:tr h="0">
                <a:tc>
                  <a:txBody>
                    <a:bodyPr/>
                    <a:lstStyle/>
                    <a:p>
                      <a:r>
                        <a:rPr sz="1400"/>
                        <a:t>TQ 37</a:t>
                      </a:r>
                    </a:p>
                  </a:txBody>
                  <a:tcPr/>
                </a:tc>
                <a:tc>
                  <a:txBody>
                    <a:bodyPr/>
                    <a:lstStyle/>
                    <a:p>
                      <a:r>
                        <a:rPr sz="1400"/>
                        <a:t>4.06E+07</a:t>
                      </a:r>
                    </a:p>
                  </a:txBody>
                  <a:tcPr/>
                </a:tc>
                <a:tc>
                  <a:txBody>
                    <a:bodyPr/>
                    <a:lstStyle/>
                    <a:p>
                      <a:r>
                        <a:rPr sz="1400"/>
                        <a:t>2.75E+11</a:t>
                      </a:r>
                    </a:p>
                  </a:txBody>
                  <a:tcPr/>
                </a:tc>
                <a:tc>
                  <a:txBody>
                    <a:bodyPr/>
                    <a:lstStyle/>
                    <a:p>
                      <a:r>
                        <a:rPr sz="1400"/>
                        <a:t>9.83E+12</a:t>
                      </a:r>
                    </a:p>
                  </a:txBody>
                  <a:tcPr/>
                </a:tc>
                <a:tc>
                  <a:txBody>
                    <a:bodyPr/>
                    <a:lstStyle/>
                    <a:p>
                      <a:r>
                        <a:rPr sz="1400"/>
                        <a:t>1.69E+11</a:t>
                      </a:r>
                    </a:p>
                  </a:txBody>
                  <a:tcPr/>
                </a:tc>
                <a:tc>
                  <a:txBody>
                    <a:bodyPr/>
                    <a:lstStyle/>
                    <a:p>
                      <a:r>
                        <a:rPr sz="1400"/>
                        <a:t>1.40E+10</a:t>
                      </a:r>
                    </a:p>
                  </a:txBody>
                  <a:tcPr/>
                </a:tc>
                <a:tc>
                  <a:txBody>
                    <a:bodyPr/>
                    <a:lstStyle/>
                    <a:p>
                      <a:r>
                        <a:rPr sz="1400"/>
                        <a:t>2.48E+11</a:t>
                      </a:r>
                    </a:p>
                  </a:txBody>
                  <a:tcPr/>
                </a:tc>
                <a:tc>
                  <a:txBody>
                    <a:bodyPr/>
                    <a:lstStyle/>
                    <a:p>
                      <a:r>
                        <a:rPr sz="1400"/>
                        <a:t>2.90E+12</a:t>
                      </a:r>
                    </a:p>
                  </a:txBody>
                  <a:tcPr/>
                </a:tc>
                <a:tc>
                  <a:txBody>
                    <a:bodyPr/>
                    <a:lstStyle/>
                    <a:p>
                      <a:r>
                        <a:rPr sz="1400"/>
                        <a:t>2.47E+11</a:t>
                      </a:r>
                    </a:p>
                  </a:txBody>
                  <a:tcPr/>
                </a:tc>
              </a:tr>
              <a:tr h="1">
                <a:tc>
                  <a:txBody>
                    <a:bodyPr/>
                    <a:lstStyle/>
                    <a:p>
                      <a:r>
                        <a:rPr sz="1400"/>
                        <a:t>TQ 38</a:t>
                      </a:r>
                    </a:p>
                  </a:txBody>
                  <a:tcPr/>
                </a:tc>
                <a:tc>
                  <a:txBody>
                    <a:bodyPr/>
                    <a:lstStyle/>
                    <a:p>
                      <a:r>
                        <a:rPr sz="1400"/>
                        <a:t>1.32E+04</a:t>
                      </a:r>
                    </a:p>
                  </a:txBody>
                  <a:tcPr/>
                </a:tc>
                <a:tc>
                  <a:txBody>
                    <a:bodyPr/>
                    <a:lstStyle/>
                    <a:p>
                      <a:r>
                        <a:rPr sz="1400"/>
                        <a:t>2.59E+04</a:t>
                      </a:r>
                    </a:p>
                  </a:txBody>
                  <a:tcPr/>
                </a:tc>
                <a:tc>
                  <a:txBody>
                    <a:bodyPr/>
                    <a:lstStyle/>
                    <a:p>
                      <a:r>
                        <a:rPr sz="1400"/>
                        <a:t>3.67E+04</a:t>
                      </a:r>
                    </a:p>
                  </a:txBody>
                  <a:tcPr/>
                </a:tc>
                <a:tc>
                  <a:txBody>
                    <a:bodyPr/>
                    <a:lstStyle/>
                    <a:p>
                      <a:r>
                        <a:rPr sz="1400"/>
                        <a:t>2.47E+04</a:t>
                      </a:r>
                    </a:p>
                  </a:txBody>
                  <a:tcPr/>
                </a:tc>
                <a:tc>
                  <a:txBody>
                    <a:bodyPr/>
                    <a:lstStyle/>
                    <a:p>
                      <a:r>
                        <a:rPr sz="1400"/>
                        <a:t>1.30E+04</a:t>
                      </a:r>
                    </a:p>
                  </a:txBody>
                  <a:tcPr/>
                </a:tc>
                <a:tc>
                  <a:txBody>
                    <a:bodyPr/>
                    <a:lstStyle/>
                    <a:p>
                      <a:r>
                        <a:rPr sz="1400"/>
                        <a:t>2.54E+04</a:t>
                      </a:r>
                    </a:p>
                  </a:txBody>
                  <a:tcPr/>
                </a:tc>
                <a:tc>
                  <a:txBody>
                    <a:bodyPr/>
                    <a:lstStyle/>
                    <a:p>
                      <a:r>
                        <a:rPr sz="1400"/>
                        <a:t>3.49E+04</a:t>
                      </a:r>
                    </a:p>
                  </a:txBody>
                  <a:tcPr/>
                </a:tc>
                <a:tc>
                  <a:txBody>
                    <a:bodyPr/>
                    <a:lstStyle/>
                    <a:p>
                      <a:r>
                        <a:rPr sz="1400"/>
                        <a:t>2.42E+04</a:t>
                      </a:r>
                    </a:p>
                  </a:txBody>
                  <a:tcPr/>
                </a:tc>
              </a:tr>
            </a:tbl>
          </a:graphicData>
        </a:graphic>
      </p:graphicFrame>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Index 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index_01.png"/>
          <p:cNvPicPr>
            <a:picLocks noChangeAspect="1"/>
          </p:cNvPicPr>
          <p:nvPr/>
        </p:nvPicPr>
        <p:blipFill>
          <a:blip r:embed="rId3"/>
          <a:stretch>
            <a:fillRect/>
          </a:stretch>
        </p:blipFill>
        <p:spPr>
          <a:xfrm>
            <a:off x="420624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TQ1. Next eruption, rhyolitic magma.</a:t>
            </a:r>
          </a:p>
          <a:p>
            <a:pPr>
              <a:defRPr sz="1800"/>
            </a:pPr>
          </a:p>
          <a:p>
            <a:pPr>
              <a:defRPr sz="1800"/>
            </a:pPr>
            <a:r>
              <a:t>TQ2. Next eruption, andesitic magma.</a:t>
            </a:r>
          </a:p>
          <a:p>
            <a:pPr>
              <a:defRPr sz="1800"/>
            </a:pPr>
          </a:p>
          <a:p>
            <a:pPr>
              <a:defRPr sz="1800"/>
            </a:pPr>
            <a:r>
              <a:t>TQ3. Next eruption, rhyolitic magma, SubPlinian eruption.</a:t>
            </a:r>
          </a:p>
          <a:p>
            <a:pPr>
              <a:defRPr sz="1800"/>
            </a:pPr>
          </a:p>
          <a:p>
            <a:pPr>
              <a:defRPr sz="1800"/>
            </a:pPr>
            <a:r>
              <a:t>TQ4. Next eruption, rhyolitic magma, Plinian eruption.</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
        <p:nvSpPr>
          <p:cNvPr id="7" name="TextBox 6"/>
          <p:cNvSpPr txBox="1"/>
          <p:nvPr/>
        </p:nvSpPr>
        <p:spPr>
          <a:xfrm>
            <a:off x="914400" y="7315200"/>
            <a:ext cx="3657600" cy="4572000"/>
          </a:xfrm>
          <a:prstGeom prst="rect">
            <a:avLst/>
          </a:prstGeom>
          <a:noFill/>
        </p:spPr>
        <p:txBody>
          <a:bodyPr wrap="square">
            <a:spAutoFit/>
          </a:bodyPr>
          <a:lstStyle/>
          <a:p>
            <a:pPr>
              <a:defRPr sz="1300"/>
            </a:pPr>
            <a:r>
              <a:t>Intervals show mean and standard error of the index.</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index_02.png"/>
          <p:cNvPicPr>
            <a:picLocks noChangeAspect="1"/>
          </p:cNvPicPr>
          <p:nvPr/>
        </p:nvPicPr>
        <p:blipFill>
          <a:blip r:embed="rId3"/>
          <a:stretch>
            <a:fillRect/>
          </a:stretch>
        </p:blipFill>
        <p:spPr>
          <a:xfrm>
            <a:off x="420624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2</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TQ5. Next eruption, rhyolitic magma, other eruption type.</a:t>
            </a:r>
          </a:p>
          <a:p>
            <a:pPr>
              <a:defRPr sz="1800"/>
            </a:pPr>
          </a:p>
          <a:p>
            <a:pPr>
              <a:defRPr sz="1800"/>
            </a:pPr>
            <a:r>
              <a:t>TQ6. Next eruption, andesitic magma, Hydrovolcanic/Continuos ash emission eruption.</a:t>
            </a:r>
          </a:p>
          <a:p>
            <a:pPr>
              <a:defRPr sz="1800"/>
            </a:pPr>
          </a:p>
          <a:p>
            <a:pPr>
              <a:defRPr sz="1800"/>
            </a:pPr>
            <a:r>
              <a:t>TQ7. Next eruption, andesitic magma, Violent Strombolian eruption.</a:t>
            </a:r>
          </a:p>
          <a:p>
            <a:pPr>
              <a:defRPr sz="1800"/>
            </a:pPr>
          </a:p>
          <a:p>
            <a:pPr>
              <a:defRPr sz="1800"/>
            </a:pPr>
            <a:r>
              <a:t>TQ8. Next eruption, andesitic magma, SubPlinian eruption.</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
        <p:nvSpPr>
          <p:cNvPr id="7" name="TextBox 6"/>
          <p:cNvSpPr txBox="1"/>
          <p:nvPr/>
        </p:nvSpPr>
        <p:spPr>
          <a:xfrm>
            <a:off x="914400" y="7315200"/>
            <a:ext cx="3657600" cy="4572000"/>
          </a:xfrm>
          <a:prstGeom prst="rect">
            <a:avLst/>
          </a:prstGeom>
          <a:noFill/>
        </p:spPr>
        <p:txBody>
          <a:bodyPr wrap="square">
            <a:spAutoFit/>
          </a:bodyPr>
          <a:lstStyle/>
          <a:p>
            <a:pPr>
              <a:defRPr sz="1300"/>
            </a:pPr>
            <a:r>
              <a:t>Intervals show mean and standard error of the index.</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Trend 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trend_01.png"/>
          <p:cNvPicPr>
            <a:picLocks noChangeAspect="1"/>
          </p:cNvPicPr>
          <p:nvPr/>
        </p:nvPicPr>
        <p:blipFill>
          <a:blip r:embed="rId3"/>
          <a:stretch>
            <a:fillRect/>
          </a:stretch>
        </p:blipFill>
        <p:spPr>
          <a:xfrm>
            <a:off x="420624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TQ6. Next eruption, andesitic magma, Hydrovolcanic/Continuos ash emission eruption.</a:t>
            </a:r>
          </a:p>
          <a:p>
            <a:pPr>
              <a:defRPr sz="1800"/>
            </a:pPr>
          </a:p>
          <a:p>
            <a:pPr>
              <a:defRPr sz="1800"/>
            </a:pPr>
            <a:r>
              <a:t>TQ7. Next eruption, andesitic magma, Violent Strombolian eruption.</a:t>
            </a:r>
          </a:p>
          <a:p>
            <a:pPr>
              <a:defRPr sz="1800"/>
            </a:pPr>
          </a:p>
          <a:p>
            <a:pPr>
              <a:defRPr sz="1800"/>
            </a:pPr>
            <a:r>
              <a:t>TQ8. Next eruption, andesitic magma, SubPlinian eruption.</a:t>
            </a:r>
          </a:p>
          <a:p>
            <a:pPr>
              <a:defRPr sz="1800"/>
            </a:pPr>
          </a:p>
          <a:p>
            <a:pPr>
              <a:defRPr sz="1800"/>
            </a:pPr>
            <a:r>
              <a:t>TQ9. Next eruption, andesitic magma, Plinian eruption.</a:t>
            </a:r>
          </a:p>
          <a:p>
            <a:pPr>
              <a:defRPr sz="1800"/>
            </a:pPr>
          </a:p>
          <a:p>
            <a:pPr>
              <a:defRPr sz="1800"/>
            </a:pPr>
            <a:r>
              <a:t>TQ10. Next eruption, andesitic magma, other eruption type.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Violin 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violin_01.png"/>
          <p:cNvPicPr>
            <a:picLocks noChangeAspect="1"/>
          </p:cNvPicPr>
          <p:nvPr/>
        </p:nvPicPr>
        <p:blipFill>
          <a:blip r:embed="rId3"/>
          <a:stretch>
            <a:fillRect/>
          </a:stretch>
        </p:blipFill>
        <p:spPr>
          <a:xfrm>
            <a:off x="4626864" y="2286000"/>
            <a:ext cx="9921240" cy="496062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TQ6. Next eruption, andesitic magma, Hydrovolcanic/Continuos ash emission eruption.</a:t>
            </a:r>
          </a:p>
          <a:p>
            <a:pPr>
              <a:defRPr sz="1800"/>
            </a:pPr>
          </a:p>
          <a:p>
            <a:pPr>
              <a:defRPr sz="1800"/>
            </a:pPr>
            <a:r>
              <a:t>TQ7. Next eruption, andesitic magma, Violent Strombolian eruption.</a:t>
            </a:r>
          </a:p>
          <a:p>
            <a:pPr>
              <a:defRPr sz="1800"/>
            </a:pPr>
          </a:p>
          <a:p>
            <a:pPr>
              <a:defRPr sz="1800"/>
            </a:pPr>
            <a:r>
              <a:t>TQ8. Next eruption, andesitic magma, SubPlinian eruption.</a:t>
            </a:r>
          </a:p>
          <a:p>
            <a:pPr>
              <a:defRPr sz="1800"/>
            </a:pPr>
          </a:p>
          <a:p>
            <a:pPr>
              <a:defRPr sz="1800"/>
            </a:pPr>
            <a:r>
              <a:t>TQ9. Next eruption, andesitic magma, Plinian eruption.</a:t>
            </a:r>
          </a:p>
          <a:p>
            <a:pPr>
              <a:defRPr sz="1800"/>
            </a:pPr>
          </a:p>
          <a:p>
            <a:pPr>
              <a:defRPr sz="1800"/>
            </a:pPr>
            <a:r>
              <a:t>TQ10. Next eruption, andesitic magma, other eruption type.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Pie charts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ie_01.png"/>
          <p:cNvPicPr>
            <a:picLocks noChangeAspect="1"/>
          </p:cNvPicPr>
          <p:nvPr/>
        </p:nvPicPr>
        <p:blipFill>
          <a:blip r:embed="rId3"/>
          <a:stretch>
            <a:fillRect/>
          </a:stretch>
        </p:blipFill>
        <p:spPr>
          <a:xfrm>
            <a:off x="4626864" y="2286000"/>
            <a:ext cx="9921240" cy="496062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TQ3. Next eruption, rhyolitic magma, SubPlinian eruption.</a:t>
            </a:r>
          </a:p>
          <a:p>
            <a:pPr>
              <a:defRPr sz="1800"/>
            </a:pPr>
          </a:p>
          <a:p>
            <a:pPr>
              <a:defRPr sz="1800"/>
            </a:pPr>
            <a:r>
              <a:t>TQ4. Next eruption, rhyolitic magma, Plinian eruption.</a:t>
            </a:r>
          </a:p>
          <a:p>
            <a:pPr>
              <a:defRPr sz="1800"/>
            </a:pPr>
          </a:p>
          <a:p>
            <a:pPr>
              <a:defRPr sz="1800"/>
            </a:pPr>
            <a:r>
              <a:t>TQ5. Next eruption, rhyolitic magma, other eruption type.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pie_02.png"/>
          <p:cNvPicPr>
            <a:picLocks noChangeAspect="1"/>
          </p:cNvPicPr>
          <p:nvPr/>
        </p:nvPicPr>
        <p:blipFill>
          <a:blip r:embed="rId3"/>
          <a:stretch>
            <a:fillRect/>
          </a:stretch>
        </p:blipFill>
        <p:spPr>
          <a:xfrm>
            <a:off x="4626864" y="2286000"/>
            <a:ext cx="9921240" cy="496062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2</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TQ6. Next eruption, andesitic magma, Hydrovolcanic/Continuos ash emission eruption.</a:t>
            </a:r>
          </a:p>
          <a:p>
            <a:pPr>
              <a:defRPr sz="1800"/>
            </a:pPr>
          </a:p>
          <a:p>
            <a:pPr>
              <a:defRPr sz="1800"/>
            </a:pPr>
            <a:r>
              <a:t>TQ7. Next eruption, andesitic magma, Violent Strombolian eruption.</a:t>
            </a:r>
          </a:p>
          <a:p>
            <a:pPr>
              <a:defRPr sz="1800"/>
            </a:pPr>
          </a:p>
          <a:p>
            <a:pPr>
              <a:defRPr sz="1800"/>
            </a:pPr>
            <a:r>
              <a:t>TQ8. Next eruption, andesitic magma, SubPlinian eruption.</a:t>
            </a:r>
          </a:p>
          <a:p>
            <a:pPr>
              <a:defRPr sz="1800"/>
            </a:pPr>
          </a:p>
          <a:p>
            <a:pPr>
              <a:defRPr sz="1800"/>
            </a:pPr>
            <a:r>
              <a:t>TQ9. Next eruption, andesitic magma, Plinian eruption.</a:t>
            </a:r>
          </a:p>
          <a:p>
            <a:pPr>
              <a:defRPr sz="1800"/>
            </a:pPr>
          </a:p>
          <a:p>
            <a:pPr>
              <a:defRPr sz="1800"/>
            </a:pPr>
            <a:r>
              <a:t>TQ10. Next eruption, andesitic magma, other eruption type.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Barplots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1.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eruption, rhyolitic magma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eruption at Cotopaxi, the magma involved would be totally or predominantly of rhyolitic composition?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1.36E+00</a:t>
                      </a:r>
                    </a:p>
                  </a:txBody>
                  <a:tcPr/>
                </a:tc>
                <a:tc>
                  <a:txBody>
                    <a:bodyPr/>
                    <a:lstStyle/>
                    <a:p>
                      <a:r>
                        <a:rPr sz="800"/>
                        <a:t>8.05E+00</a:t>
                      </a:r>
                    </a:p>
                  </a:txBody>
                  <a:tcPr/>
                </a:tc>
                <a:tc>
                  <a:txBody>
                    <a:bodyPr/>
                    <a:lstStyle/>
                    <a:p>
                      <a:r>
                        <a:rPr sz="800"/>
                        <a:t>3.72E+01</a:t>
                      </a:r>
                    </a:p>
                  </a:txBody>
                  <a:tcPr/>
                </a:tc>
                <a:tc>
                  <a:txBody>
                    <a:bodyPr/>
                    <a:lstStyle/>
                    <a:p>
                      <a:r>
                        <a:rPr sz="800"/>
                        <a:t>1.16E+01</a:t>
                      </a:r>
                    </a:p>
                  </a:txBody>
                  <a:tcPr/>
                </a:tc>
              </a:tr>
              <a:tr h="1">
                <a:tc>
                  <a:txBody>
                    <a:bodyPr/>
                    <a:lstStyle/>
                    <a:p>
                      <a:r>
                        <a:rPr sz="800"/>
                        <a:t>EW</a:t>
                      </a:r>
                    </a:p>
                  </a:txBody>
                  <a:tcPr/>
                </a:tc>
                <a:tc>
                  <a:txBody>
                    <a:bodyPr/>
                    <a:lstStyle/>
                    <a:p>
                      <a:r>
                        <a:rPr sz="800"/>
                        <a:t>2.01E+00</a:t>
                      </a:r>
                    </a:p>
                  </a:txBody>
                  <a:tcPr/>
                </a:tc>
                <a:tc>
                  <a:txBody>
                    <a:bodyPr/>
                    <a:lstStyle/>
                    <a:p>
                      <a:r>
                        <a:rPr sz="800"/>
                        <a:t>1.16E+01</a:t>
                      </a:r>
                    </a:p>
                  </a:txBody>
                  <a:tcPr/>
                </a:tc>
                <a:tc>
                  <a:txBody>
                    <a:bodyPr/>
                    <a:lstStyle/>
                    <a:p>
                      <a:r>
                        <a:rPr sz="800"/>
                        <a:t>5.63E+01</a:t>
                      </a:r>
                    </a:p>
                  </a:txBody>
                  <a:tcPr/>
                </a:tc>
                <a:tc>
                  <a:txBody>
                    <a:bodyPr/>
                    <a:lstStyle/>
                    <a:p>
                      <a:r>
                        <a:rPr sz="800"/>
                        <a:t>1.80E+01</a:t>
                      </a:r>
                    </a:p>
                  </a:txBody>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2.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eruption, andesitic magma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eruption at Cotopaxi, the magma involved would be totally or predominantly of andesitic composition?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5.12E+01</a:t>
                      </a:r>
                    </a:p>
                  </a:txBody>
                  <a:tcPr/>
                </a:tc>
                <a:tc>
                  <a:txBody>
                    <a:bodyPr/>
                    <a:lstStyle/>
                    <a:p>
                      <a:r>
                        <a:rPr sz="800"/>
                        <a:t>9.07E+01</a:t>
                      </a:r>
                    </a:p>
                  </a:txBody>
                  <a:tcPr/>
                </a:tc>
                <a:tc>
                  <a:txBody>
                    <a:bodyPr/>
                    <a:lstStyle/>
                    <a:p>
                      <a:r>
                        <a:rPr sz="800"/>
                        <a:t>9.86E+01</a:t>
                      </a:r>
                    </a:p>
                  </a:txBody>
                  <a:tcPr/>
                </a:tc>
                <a:tc>
                  <a:txBody>
                    <a:bodyPr/>
                    <a:lstStyle/>
                    <a:p>
                      <a:r>
                        <a:rPr sz="800"/>
                        <a:t>8.52E+01</a:t>
                      </a:r>
                    </a:p>
                  </a:txBody>
                  <a:tcPr/>
                </a:tc>
              </a:tr>
              <a:tr h="1">
                <a:tc>
                  <a:txBody>
                    <a:bodyPr/>
                    <a:lstStyle/>
                    <a:p>
                      <a:r>
                        <a:rPr sz="800"/>
                        <a:t>EW</a:t>
                      </a:r>
                    </a:p>
                  </a:txBody>
                  <a:tcPr/>
                </a:tc>
                <a:tc>
                  <a:txBody>
                    <a:bodyPr/>
                    <a:lstStyle/>
                    <a:p>
                      <a:r>
                        <a:rPr sz="800"/>
                        <a:t>4.10E+01</a:t>
                      </a:r>
                    </a:p>
                  </a:txBody>
                  <a:tcPr/>
                </a:tc>
                <a:tc>
                  <a:txBody>
                    <a:bodyPr/>
                    <a:lstStyle/>
                    <a:p>
                      <a:r>
                        <a:rPr sz="800"/>
                        <a:t>8.78E+01</a:t>
                      </a:r>
                    </a:p>
                  </a:txBody>
                  <a:tcPr/>
                </a:tc>
                <a:tc>
                  <a:txBody>
                    <a:bodyPr/>
                    <a:lstStyle/>
                    <a:p>
                      <a:r>
                        <a:rPr sz="800"/>
                        <a:t>9.80E+01</a:t>
                      </a:r>
                    </a:p>
                  </a:txBody>
                  <a:tcPr/>
                </a:tc>
                <a:tc>
                  <a:txBody>
                    <a:bodyPr/>
                    <a:lstStyle/>
                    <a:p>
                      <a:r>
                        <a:rPr sz="800"/>
                        <a:t>8.11E+01</a:t>
                      </a:r>
                    </a:p>
                  </a:txBody>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3.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rhyolitic magma, SubPlinian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at Cotopaxi, in case that the next eruption would involve totally or predominantly rhyolitic magma, the eruption would be SubPlinian (VEI 3-4)?</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1.01E+01</a:t>
                      </a:r>
                    </a:p>
                  </a:txBody>
                  <a:tcPr/>
                </a:tc>
                <a:tc>
                  <a:txBody>
                    <a:bodyPr/>
                    <a:lstStyle/>
                    <a:p>
                      <a:r>
                        <a:rPr sz="800"/>
                        <a:t>5.08E+01</a:t>
                      </a:r>
                    </a:p>
                  </a:txBody>
                  <a:tcPr/>
                </a:tc>
                <a:tc>
                  <a:txBody>
                    <a:bodyPr/>
                    <a:lstStyle/>
                    <a:p>
                      <a:r>
                        <a:rPr sz="800"/>
                        <a:t>8.92E+01</a:t>
                      </a:r>
                    </a:p>
                  </a:txBody>
                  <a:tcPr/>
                </a:tc>
                <a:tc>
                  <a:txBody>
                    <a:bodyPr/>
                    <a:lstStyle/>
                    <a:p>
                      <a:r>
                        <a:rPr sz="800"/>
                        <a:t>4.96E+01</a:t>
                      </a:r>
                    </a:p>
                  </a:txBody>
                  <a:tcPr/>
                </a:tc>
              </a:tr>
              <a:tr h="1">
                <a:tc>
                  <a:txBody>
                    <a:bodyPr/>
                    <a:lstStyle/>
                    <a:p>
                      <a:r>
                        <a:rPr sz="800"/>
                        <a:t>EW</a:t>
                      </a:r>
                    </a:p>
                  </a:txBody>
                  <a:tcPr/>
                </a:tc>
                <a:tc>
                  <a:txBody>
                    <a:bodyPr/>
                    <a:lstStyle/>
                    <a:p>
                      <a:r>
                        <a:rPr sz="800"/>
                        <a:t>8.28E+00</a:t>
                      </a:r>
                    </a:p>
                  </a:txBody>
                  <a:tcPr/>
                </a:tc>
                <a:tc>
                  <a:txBody>
                    <a:bodyPr/>
                    <a:lstStyle/>
                    <a:p>
                      <a:r>
                        <a:rPr sz="800"/>
                        <a:t>4.60E+01</a:t>
                      </a:r>
                    </a:p>
                  </a:txBody>
                  <a:tcPr/>
                </a:tc>
                <a:tc>
                  <a:txBody>
                    <a:bodyPr/>
                    <a:lstStyle/>
                    <a:p>
                      <a:r>
                        <a:rPr sz="800"/>
                        <a:t>9.13E+01</a:t>
                      </a:r>
                    </a:p>
                  </a:txBody>
                  <a:tcPr/>
                </a:tc>
                <a:tc>
                  <a:txBody>
                    <a:bodyPr/>
                    <a:lstStyle/>
                    <a:p>
                      <a:r>
                        <a:rPr sz="800"/>
                        <a:t>4.73E+01</a:t>
                      </a:r>
                    </a:p>
                  </a:txBody>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4.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eruption, rhyolitic magma, 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at Cotopaxi, in case that the next eruption would involve totally or predominantly rhyolitic magma, the eruption would be similar to the F-2/F-4 ones (Plinian, VEI 4-5)?</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6.92E+00</a:t>
                      </a:r>
                    </a:p>
                  </a:txBody>
                  <a:tcPr/>
                </a:tc>
                <a:tc>
                  <a:txBody>
                    <a:bodyPr/>
                    <a:lstStyle/>
                    <a:p>
                      <a:r>
                        <a:rPr sz="800"/>
                        <a:t>3.22E+01</a:t>
                      </a:r>
                    </a:p>
                  </a:txBody>
                  <a:tcPr/>
                </a:tc>
                <a:tc>
                  <a:txBody>
                    <a:bodyPr/>
                    <a:lstStyle/>
                    <a:p>
                      <a:r>
                        <a:rPr sz="800"/>
                        <a:t>8.34E+01</a:t>
                      </a:r>
                    </a:p>
                  </a:txBody>
                  <a:tcPr/>
                </a:tc>
                <a:tc>
                  <a:txBody>
                    <a:bodyPr/>
                    <a:lstStyle/>
                    <a:p>
                      <a:r>
                        <a:rPr sz="800"/>
                        <a:t>3.85E+01</a:t>
                      </a:r>
                    </a:p>
                  </a:txBody>
                  <a:tcPr/>
                </a:tc>
              </a:tr>
              <a:tr h="1">
                <a:tc>
                  <a:txBody>
                    <a:bodyPr/>
                    <a:lstStyle/>
                    <a:p>
                      <a:r>
                        <a:rPr sz="800"/>
                        <a:t>EW</a:t>
                      </a:r>
                    </a:p>
                  </a:txBody>
                  <a:tcPr/>
                </a:tc>
                <a:tc>
                  <a:txBody>
                    <a:bodyPr/>
                    <a:lstStyle/>
                    <a:p>
                      <a:r>
                        <a:rPr sz="800"/>
                        <a:t>4.91E+00</a:t>
                      </a:r>
                    </a:p>
                  </a:txBody>
                  <a:tcPr/>
                </a:tc>
                <a:tc>
                  <a:txBody>
                    <a:bodyPr/>
                    <a:lstStyle/>
                    <a:p>
                      <a:r>
                        <a:rPr sz="800"/>
                        <a:t>3.15E+01</a:t>
                      </a:r>
                    </a:p>
                  </a:txBody>
                  <a:tcPr/>
                </a:tc>
                <a:tc>
                  <a:txBody>
                    <a:bodyPr/>
                    <a:lstStyle/>
                    <a:p>
                      <a:r>
                        <a:rPr sz="800"/>
                        <a:t>8.44E+01</a:t>
                      </a:r>
                    </a:p>
                  </a:txBody>
                  <a:tcPr/>
                </a:tc>
                <a:tc>
                  <a:txBody>
                    <a:bodyPr/>
                    <a:lstStyle/>
                    <a:p>
                      <a:r>
                        <a:rPr sz="800"/>
                        <a:t>3.75E+01</a:t>
                      </a:r>
                    </a:p>
                  </a:txBody>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5.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rhyolitic magma, other eruption type</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at Cotopaxi, in case that the next eruption would involve totally or predominantly rhyolitic magma, the eruption would be of different type with respect to the previous ones?</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3.05E+00</a:t>
                      </a:r>
                    </a:p>
                  </a:txBody>
                  <a:tcPr/>
                </a:tc>
                <a:tc>
                  <a:txBody>
                    <a:bodyPr/>
                    <a:lstStyle/>
                    <a:p>
                      <a:r>
                        <a:rPr sz="800"/>
                        <a:t>1.04E+01</a:t>
                      </a:r>
                    </a:p>
                  </a:txBody>
                  <a:tcPr/>
                </a:tc>
                <a:tc>
                  <a:txBody>
                    <a:bodyPr/>
                    <a:lstStyle/>
                    <a:p>
                      <a:r>
                        <a:rPr sz="800"/>
                        <a:t>7.40E+01</a:t>
                      </a:r>
                    </a:p>
                  </a:txBody>
                  <a:tcPr/>
                </a:tc>
                <a:tc>
                  <a:txBody>
                    <a:bodyPr/>
                    <a:lstStyle/>
                    <a:p>
                      <a:r>
                        <a:rPr sz="800"/>
                        <a:t>1.81E+01</a:t>
                      </a:r>
                    </a:p>
                  </a:txBody>
                  <a:tcPr/>
                </a:tc>
              </a:tr>
              <a:tr h="1">
                <a:tc>
                  <a:txBody>
                    <a:bodyPr/>
                    <a:lstStyle/>
                    <a:p>
                      <a:r>
                        <a:rPr sz="800"/>
                        <a:t>EW</a:t>
                      </a:r>
                    </a:p>
                  </a:txBody>
                  <a:tcPr/>
                </a:tc>
                <a:tc>
                  <a:txBody>
                    <a:bodyPr/>
                    <a:lstStyle/>
                    <a:p>
                      <a:r>
                        <a:rPr sz="800"/>
                        <a:t>3.04E+00</a:t>
                      </a:r>
                    </a:p>
                  </a:txBody>
                  <a:tcPr/>
                </a:tc>
                <a:tc>
                  <a:txBody>
                    <a:bodyPr/>
                    <a:lstStyle/>
                    <a:p>
                      <a:r>
                        <a:rPr sz="800"/>
                        <a:t>1.25E+01</a:t>
                      </a:r>
                    </a:p>
                  </a:txBody>
                  <a:tcPr/>
                </a:tc>
                <a:tc>
                  <a:txBody>
                    <a:bodyPr/>
                    <a:lstStyle/>
                    <a:p>
                      <a:r>
                        <a:rPr sz="800"/>
                        <a:t>7.49E+01</a:t>
                      </a:r>
                    </a:p>
                  </a:txBody>
                  <a:tcPr/>
                </a:tc>
                <a:tc>
                  <a:txBody>
                    <a:bodyPr/>
                    <a:lstStyle/>
                    <a:p>
                      <a:r>
                        <a:rPr sz="800"/>
                        <a:t>2.17E+01</a:t>
                      </a:r>
                    </a:p>
                  </a:txBody>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6.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andesitic magma, Hydrovolcanic/Continuos ash emission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similar to the AD 2015 one (Hydrovolcanic to long-lasting ash emission, VEI 1-2)?</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1.67E+01</a:t>
                      </a:r>
                    </a:p>
                  </a:txBody>
                  <a:tcPr/>
                </a:tc>
                <a:tc>
                  <a:txBody>
                    <a:bodyPr/>
                    <a:lstStyle/>
                    <a:p>
                      <a:r>
                        <a:rPr sz="800"/>
                        <a:t>6.19E+01</a:t>
                      </a:r>
                    </a:p>
                  </a:txBody>
                  <a:tcPr/>
                </a:tc>
                <a:tc>
                  <a:txBody>
                    <a:bodyPr/>
                    <a:lstStyle/>
                    <a:p>
                      <a:r>
                        <a:rPr sz="800"/>
                        <a:t>8.97E+01</a:t>
                      </a:r>
                    </a:p>
                  </a:txBody>
                  <a:tcPr/>
                </a:tc>
                <a:tc>
                  <a:txBody>
                    <a:bodyPr/>
                    <a:lstStyle/>
                    <a:p>
                      <a:r>
                        <a:rPr sz="800"/>
                        <a:t>5.77E+01</a:t>
                      </a:r>
                    </a:p>
                  </a:txBody>
                  <a:tcPr/>
                </a:tc>
              </a:tr>
              <a:tr h="1">
                <a:tc>
                  <a:txBody>
                    <a:bodyPr/>
                    <a:lstStyle/>
                    <a:p>
                      <a:r>
                        <a:rPr sz="800"/>
                        <a:t>EW</a:t>
                      </a:r>
                    </a:p>
                  </a:txBody>
                  <a:tcPr/>
                </a:tc>
                <a:tc>
                  <a:txBody>
                    <a:bodyPr/>
                    <a:lstStyle/>
                    <a:p>
                      <a:r>
                        <a:rPr sz="800"/>
                        <a:t>9.76E+00</a:t>
                      </a:r>
                    </a:p>
                  </a:txBody>
                  <a:tcPr/>
                </a:tc>
                <a:tc>
                  <a:txBody>
                    <a:bodyPr/>
                    <a:lstStyle/>
                    <a:p>
                      <a:r>
                        <a:rPr sz="800"/>
                        <a:t>4.26E+01</a:t>
                      </a:r>
                    </a:p>
                  </a:txBody>
                  <a:tcPr/>
                </a:tc>
                <a:tc>
                  <a:txBody>
                    <a:bodyPr/>
                    <a:lstStyle/>
                    <a:p>
                      <a:r>
                        <a:rPr sz="800"/>
                        <a:t>8.64E+01</a:t>
                      </a:r>
                    </a:p>
                  </a:txBody>
                  <a:tcPr/>
                </a:tc>
                <a:tc>
                  <a:txBody>
                    <a:bodyPr/>
                    <a:lstStyle/>
                    <a:p>
                      <a:r>
                        <a:rPr sz="800"/>
                        <a:t>4.51E+01</a:t>
                      </a:r>
                    </a:p>
                  </a:txBody>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7.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andesitic magma, Violent Strombolian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similar to the ones in the XIX century (Violent Strombolian, VEI 2-3)?</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2.87E+00</a:t>
                      </a:r>
                    </a:p>
                  </a:txBody>
                  <a:tcPr/>
                </a:tc>
                <a:tc>
                  <a:txBody>
                    <a:bodyPr/>
                    <a:lstStyle/>
                    <a:p>
                      <a:r>
                        <a:rPr sz="800"/>
                        <a:t>1.95E+01</a:t>
                      </a:r>
                    </a:p>
                  </a:txBody>
                  <a:tcPr/>
                </a:tc>
                <a:tc>
                  <a:txBody>
                    <a:bodyPr/>
                    <a:lstStyle/>
                    <a:p>
                      <a:r>
                        <a:rPr sz="800"/>
                        <a:t>6.57E+01</a:t>
                      </a:r>
                    </a:p>
                  </a:txBody>
                  <a:tcPr/>
                </a:tc>
                <a:tc>
                  <a:txBody>
                    <a:bodyPr/>
                    <a:lstStyle/>
                    <a:p>
                      <a:r>
                        <a:rPr sz="800"/>
                        <a:t>2.56E+01</a:t>
                      </a:r>
                    </a:p>
                  </a:txBody>
                  <a:tcPr/>
                </a:tc>
              </a:tr>
              <a:tr h="1">
                <a:tc>
                  <a:txBody>
                    <a:bodyPr/>
                    <a:lstStyle/>
                    <a:p>
                      <a:r>
                        <a:rPr sz="800"/>
                        <a:t>EW</a:t>
                      </a:r>
                    </a:p>
                  </a:txBody>
                  <a:tcPr/>
                </a:tc>
                <a:tc>
                  <a:txBody>
                    <a:bodyPr/>
                    <a:lstStyle/>
                    <a:p>
                      <a:r>
                        <a:rPr sz="800"/>
                        <a:t>5.57E+00</a:t>
                      </a:r>
                    </a:p>
                  </a:txBody>
                  <a:tcPr/>
                </a:tc>
                <a:tc>
                  <a:txBody>
                    <a:bodyPr/>
                    <a:lstStyle/>
                    <a:p>
                      <a:r>
                        <a:rPr sz="800"/>
                        <a:t>2.77E+01</a:t>
                      </a:r>
                    </a:p>
                  </a:txBody>
                  <a:tcPr/>
                </a:tc>
                <a:tc>
                  <a:txBody>
                    <a:bodyPr/>
                    <a:lstStyle/>
                    <a:p>
                      <a:r>
                        <a:rPr sz="800"/>
                        <a:t>7.38E+01</a:t>
                      </a:r>
                    </a:p>
                  </a:txBody>
                  <a:tcPr/>
                </a:tc>
                <a:tc>
                  <a:txBody>
                    <a:bodyPr/>
                    <a:lstStyle/>
                    <a:p>
                      <a:r>
                        <a:rPr sz="800"/>
                        <a:t>3.16E+01</a:t>
                      </a:r>
                    </a:p>
                  </a:txBody>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8.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andesitic magma, SubPlinian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similar to the AD 1877 one (SubPlinian, VEI 3-4)?</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2.42E+00</a:t>
                      </a:r>
                    </a:p>
                  </a:txBody>
                  <a:tcPr/>
                </a:tc>
                <a:tc>
                  <a:txBody>
                    <a:bodyPr/>
                    <a:lstStyle/>
                    <a:p>
                      <a:r>
                        <a:rPr sz="800"/>
                        <a:t>1.21E+01</a:t>
                      </a:r>
                    </a:p>
                  </a:txBody>
                  <a:tcPr/>
                </a:tc>
                <a:tc>
                  <a:txBody>
                    <a:bodyPr/>
                    <a:lstStyle/>
                    <a:p>
                      <a:r>
                        <a:rPr sz="800"/>
                        <a:t>4.21E+01</a:t>
                      </a:r>
                    </a:p>
                  </a:txBody>
                  <a:tcPr/>
                </a:tc>
                <a:tc>
                  <a:txBody>
                    <a:bodyPr/>
                    <a:lstStyle/>
                    <a:p>
                      <a:r>
                        <a:rPr sz="800"/>
                        <a:t>1.60E+01</a:t>
                      </a:r>
                    </a:p>
                  </a:txBody>
                  <a:tcPr/>
                </a:tc>
              </a:tr>
              <a:tr h="1">
                <a:tc>
                  <a:txBody>
                    <a:bodyPr/>
                    <a:lstStyle/>
                    <a:p>
                      <a:r>
                        <a:rPr sz="800"/>
                        <a:t>EW</a:t>
                      </a:r>
                    </a:p>
                  </a:txBody>
                  <a:tcPr/>
                </a:tc>
                <a:tc>
                  <a:txBody>
                    <a:bodyPr/>
                    <a:lstStyle/>
                    <a:p>
                      <a:r>
                        <a:rPr sz="800"/>
                        <a:t>3.68E+00</a:t>
                      </a:r>
                    </a:p>
                  </a:txBody>
                  <a:tcPr/>
                </a:tc>
                <a:tc>
                  <a:txBody>
                    <a:bodyPr/>
                    <a:lstStyle/>
                    <a:p>
                      <a:r>
                        <a:rPr sz="800"/>
                        <a:t>1.80E+01</a:t>
                      </a:r>
                    </a:p>
                  </a:txBody>
                  <a:tcPr/>
                </a:tc>
                <a:tc>
                  <a:txBody>
                    <a:bodyPr/>
                    <a:lstStyle/>
                    <a:p>
                      <a:r>
                        <a:rPr sz="800"/>
                        <a:t>6.77E+01</a:t>
                      </a:r>
                    </a:p>
                  </a:txBody>
                  <a:tcPr/>
                </a:tc>
                <a:tc>
                  <a:txBody>
                    <a:bodyPr/>
                    <a:lstStyle/>
                    <a:p>
                      <a:r>
                        <a:rPr sz="800"/>
                        <a:t>2.33E+01</a:t>
                      </a:r>
                    </a:p>
                  </a:txBody>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09.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eruption, andesitic magma, 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similar to the Layers 3/5 ones (Plinian, VEI 4-5)?</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7.50E-01</a:t>
                      </a:r>
                    </a:p>
                  </a:txBody>
                  <a:tcPr/>
                </a:tc>
                <a:tc>
                  <a:txBody>
                    <a:bodyPr/>
                    <a:lstStyle/>
                    <a:p>
                      <a:r>
                        <a:rPr sz="800"/>
                        <a:t>5.66E+00</a:t>
                      </a:r>
                    </a:p>
                  </a:txBody>
                  <a:tcPr/>
                </a:tc>
                <a:tc>
                  <a:txBody>
                    <a:bodyPr/>
                    <a:lstStyle/>
                    <a:p>
                      <a:r>
                        <a:rPr sz="800"/>
                        <a:t>2.74E+01</a:t>
                      </a:r>
                    </a:p>
                  </a:txBody>
                  <a:tcPr/>
                </a:tc>
                <a:tc>
                  <a:txBody>
                    <a:bodyPr/>
                    <a:lstStyle/>
                    <a:p>
                      <a:r>
                        <a:rPr sz="800"/>
                        <a:t>8.55E+00</a:t>
                      </a:r>
                    </a:p>
                  </a:txBody>
                  <a:tcPr/>
                </a:tc>
              </a:tr>
              <a:tr h="1">
                <a:tc>
                  <a:txBody>
                    <a:bodyPr/>
                    <a:lstStyle/>
                    <a:p>
                      <a:r>
                        <a:rPr sz="800"/>
                        <a:t>EW</a:t>
                      </a:r>
                    </a:p>
                  </a:txBody>
                  <a:tcPr/>
                </a:tc>
                <a:tc>
                  <a:txBody>
                    <a:bodyPr/>
                    <a:lstStyle/>
                    <a:p>
                      <a:r>
                        <a:rPr sz="800"/>
                        <a:t>1.03E+00</a:t>
                      </a:r>
                    </a:p>
                  </a:txBody>
                  <a:tcPr/>
                </a:tc>
                <a:tc>
                  <a:txBody>
                    <a:bodyPr/>
                    <a:lstStyle/>
                    <a:p>
                      <a:r>
                        <a:rPr sz="800"/>
                        <a:t>7.20E+00</a:t>
                      </a:r>
                    </a:p>
                  </a:txBody>
                  <a:tcPr/>
                </a:tc>
                <a:tc>
                  <a:txBody>
                    <a:bodyPr/>
                    <a:lstStyle/>
                    <a:p>
                      <a:r>
                        <a:rPr sz="800"/>
                        <a:t>5.44E+01</a:t>
                      </a:r>
                    </a:p>
                  </a:txBody>
                  <a:tcPr/>
                </a:tc>
                <a:tc>
                  <a:txBody>
                    <a:bodyPr/>
                    <a:lstStyle/>
                    <a:p>
                      <a:r>
                        <a:rPr sz="800"/>
                        <a:t>1.35E+01</a:t>
                      </a:r>
                    </a:p>
                  </a:txBody>
                  <a:tcPr/>
                </a:tc>
              </a:tr>
            </a:tbl>
          </a:graphicData>
        </a:graphic>
      </p:graphicFrame>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0.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eruption, andesitic magma, other eruption type</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at Cotopaxi, in case that the next eruption would involve totally or predominantly andesitic magma, the eruption would be of different type with respect to the previous ones?</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7.48E-01</a:t>
                      </a:r>
                    </a:p>
                  </a:txBody>
                  <a:tcPr/>
                </a:tc>
                <a:tc>
                  <a:txBody>
                    <a:bodyPr/>
                    <a:lstStyle/>
                    <a:p>
                      <a:r>
                        <a:rPr sz="800"/>
                        <a:t>4.70E+00</a:t>
                      </a:r>
                    </a:p>
                  </a:txBody>
                  <a:tcPr/>
                </a:tc>
                <a:tc>
                  <a:txBody>
                    <a:bodyPr/>
                    <a:lstStyle/>
                    <a:p>
                      <a:r>
                        <a:rPr sz="800"/>
                        <a:t>3.48E+01</a:t>
                      </a:r>
                    </a:p>
                  </a:txBody>
                  <a:tcPr/>
                </a:tc>
                <a:tc>
                  <a:txBody>
                    <a:bodyPr/>
                    <a:lstStyle/>
                    <a:p>
                      <a:r>
                        <a:rPr sz="800"/>
                        <a:t>9.28E+00</a:t>
                      </a:r>
                    </a:p>
                  </a:txBody>
                  <a:tcPr/>
                </a:tc>
              </a:tr>
              <a:tr h="1">
                <a:tc>
                  <a:txBody>
                    <a:bodyPr/>
                    <a:lstStyle/>
                    <a:p>
                      <a:r>
                        <a:rPr sz="800"/>
                        <a:t>EW</a:t>
                      </a:r>
                    </a:p>
                  </a:txBody>
                  <a:tcPr/>
                </a:tc>
                <a:tc>
                  <a:txBody>
                    <a:bodyPr/>
                    <a:lstStyle/>
                    <a:p>
                      <a:r>
                        <a:rPr sz="800"/>
                        <a:t>1.23E+00</a:t>
                      </a:r>
                    </a:p>
                  </a:txBody>
                  <a:tcPr/>
                </a:tc>
                <a:tc>
                  <a:txBody>
                    <a:bodyPr/>
                    <a:lstStyle/>
                    <a:p>
                      <a:r>
                        <a:rPr sz="800"/>
                        <a:t>5.62E+00</a:t>
                      </a:r>
                    </a:p>
                  </a:txBody>
                  <a:tcPr/>
                </a:tc>
                <a:tc>
                  <a:txBody>
                    <a:bodyPr/>
                    <a:lstStyle/>
                    <a:p>
                      <a:r>
                        <a:rPr sz="800"/>
                        <a:t>4.99E+01</a:t>
                      </a:r>
                    </a:p>
                  </a:txBody>
                  <a:tcPr/>
                </a:tc>
                <a:tc>
                  <a:txBody>
                    <a:bodyPr/>
                    <a:lstStyle/>
                    <a:p>
                      <a:r>
                        <a:rPr sz="800"/>
                        <a:t>1.20E+01</a:t>
                      </a:r>
                    </a:p>
                  </a:txBody>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1.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100 years, rhyolitic magma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there will be at least 1 eruption involving magma totally or predominantly of rhyolitic composition?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2.00E-01</a:t>
                      </a:r>
                    </a:p>
                  </a:txBody>
                  <a:tcPr/>
                </a:tc>
                <a:tc>
                  <a:txBody>
                    <a:bodyPr/>
                    <a:lstStyle/>
                    <a:p>
                      <a:r>
                        <a:rPr sz="800"/>
                        <a:t>1.81E+01</a:t>
                      </a:r>
                    </a:p>
                  </a:txBody>
                  <a:tcPr/>
                </a:tc>
                <a:tc>
                  <a:txBody>
                    <a:bodyPr/>
                    <a:lstStyle/>
                    <a:p>
                      <a:r>
                        <a:rPr sz="800"/>
                        <a:t>6.10E+01</a:t>
                      </a:r>
                    </a:p>
                  </a:txBody>
                  <a:tcPr/>
                </a:tc>
                <a:tc>
                  <a:txBody>
                    <a:bodyPr/>
                    <a:lstStyle/>
                    <a:p>
                      <a:r>
                        <a:rPr sz="800"/>
                        <a:t>2.27E+01</a:t>
                      </a:r>
                    </a:p>
                  </a:txBody>
                  <a:tcPr/>
                </a:tc>
              </a:tr>
              <a:tr h="1">
                <a:tc>
                  <a:txBody>
                    <a:bodyPr/>
                    <a:lstStyle/>
                    <a:p>
                      <a:r>
                        <a:rPr sz="800"/>
                        <a:t>EW</a:t>
                      </a:r>
                    </a:p>
                  </a:txBody>
                  <a:tcPr/>
                </a:tc>
                <a:tc>
                  <a:txBody>
                    <a:bodyPr/>
                    <a:lstStyle/>
                    <a:p>
                      <a:r>
                        <a:rPr sz="800"/>
                        <a:t>7.33E-01</a:t>
                      </a:r>
                    </a:p>
                  </a:txBody>
                  <a:tcPr/>
                </a:tc>
                <a:tc>
                  <a:txBody>
                    <a:bodyPr/>
                    <a:lstStyle/>
                    <a:p>
                      <a:r>
                        <a:rPr sz="800"/>
                        <a:t>1.72E+01</a:t>
                      </a:r>
                    </a:p>
                  </a:txBody>
                  <a:tcPr/>
                </a:tc>
                <a:tc>
                  <a:txBody>
                    <a:bodyPr/>
                    <a:lstStyle/>
                    <a:p>
                      <a:r>
                        <a:rPr sz="800"/>
                        <a:t>6.48E+01</a:t>
                      </a:r>
                    </a:p>
                  </a:txBody>
                  <a:tcPr/>
                </a:tc>
                <a:tc>
                  <a:txBody>
                    <a:bodyPr/>
                    <a:lstStyle/>
                    <a:p>
                      <a:r>
                        <a:rPr sz="800"/>
                        <a:t>2.26E+01</a:t>
                      </a:r>
                    </a:p>
                  </a:txBody>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2.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100 years, andesitic magma</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there will be at least 1 eruption involving magma totally or predominantly of andesitic composition?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3.86E+01</a:t>
                      </a:r>
                    </a:p>
                  </a:txBody>
                  <a:tcPr/>
                </a:tc>
                <a:tc>
                  <a:txBody>
                    <a:bodyPr/>
                    <a:lstStyle/>
                    <a:p>
                      <a:r>
                        <a:rPr sz="800"/>
                        <a:t>8.36E+01</a:t>
                      </a:r>
                    </a:p>
                  </a:txBody>
                  <a:tcPr/>
                </a:tc>
                <a:tc>
                  <a:txBody>
                    <a:bodyPr/>
                    <a:lstStyle/>
                    <a:p>
                      <a:r>
                        <a:rPr sz="800"/>
                        <a:t>9.80E+01</a:t>
                      </a:r>
                    </a:p>
                  </a:txBody>
                  <a:tcPr/>
                </a:tc>
                <a:tc>
                  <a:txBody>
                    <a:bodyPr/>
                    <a:lstStyle/>
                    <a:p>
                      <a:r>
                        <a:rPr sz="800"/>
                        <a:t>7.79E+01</a:t>
                      </a:r>
                    </a:p>
                  </a:txBody>
                  <a:tcPr/>
                </a:tc>
              </a:tr>
              <a:tr h="1">
                <a:tc>
                  <a:txBody>
                    <a:bodyPr/>
                    <a:lstStyle/>
                    <a:p>
                      <a:r>
                        <a:rPr sz="800"/>
                        <a:t>EW</a:t>
                      </a:r>
                    </a:p>
                  </a:txBody>
                  <a:tcPr/>
                </a:tc>
                <a:tc>
                  <a:txBody>
                    <a:bodyPr/>
                    <a:lstStyle/>
                    <a:p>
                      <a:r>
                        <a:rPr sz="800"/>
                        <a:t>4.01E+01</a:t>
                      </a:r>
                    </a:p>
                  </a:txBody>
                  <a:tcPr/>
                </a:tc>
                <a:tc>
                  <a:txBody>
                    <a:bodyPr/>
                    <a:lstStyle/>
                    <a:p>
                      <a:r>
                        <a:rPr sz="800"/>
                        <a:t>8.28E+01</a:t>
                      </a:r>
                    </a:p>
                  </a:txBody>
                  <a:tcPr/>
                </a:tc>
                <a:tc>
                  <a:txBody>
                    <a:bodyPr/>
                    <a:lstStyle/>
                    <a:p>
                      <a:r>
                        <a:rPr sz="800"/>
                        <a:t>9.76E+01</a:t>
                      </a:r>
                    </a:p>
                  </a:txBody>
                  <a:tcPr/>
                </a:tc>
                <a:tc>
                  <a:txBody>
                    <a:bodyPr/>
                    <a:lstStyle/>
                    <a:p>
                      <a:r>
                        <a:rPr sz="800"/>
                        <a:t>7.83E+01</a:t>
                      </a:r>
                    </a:p>
                  </a:txBody>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3.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rhyolitic magma, SubPlinian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in case totally or predominantly rhyolitic magma would be involved, there will be at least 1 SubPlinian eruption (VEI 3-4)?</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1.17E+01</a:t>
                      </a:r>
                    </a:p>
                  </a:txBody>
                  <a:tcPr/>
                </a:tc>
                <a:tc>
                  <a:txBody>
                    <a:bodyPr/>
                    <a:lstStyle/>
                    <a:p>
                      <a:r>
                        <a:rPr sz="800"/>
                        <a:t>4.92E+01</a:t>
                      </a:r>
                    </a:p>
                  </a:txBody>
                  <a:tcPr/>
                </a:tc>
                <a:tc>
                  <a:txBody>
                    <a:bodyPr/>
                    <a:lstStyle/>
                    <a:p>
                      <a:r>
                        <a:rPr sz="800"/>
                        <a:t>8.51E+01</a:t>
                      </a:r>
                    </a:p>
                  </a:txBody>
                  <a:tcPr/>
                </a:tc>
                <a:tc>
                  <a:txBody>
                    <a:bodyPr/>
                    <a:lstStyle/>
                    <a:p>
                      <a:r>
                        <a:rPr sz="800"/>
                        <a:t>4.89E+01</a:t>
                      </a:r>
                    </a:p>
                  </a:txBody>
                  <a:tcPr/>
                </a:tc>
              </a:tr>
              <a:tr h="1">
                <a:tc>
                  <a:txBody>
                    <a:bodyPr/>
                    <a:lstStyle/>
                    <a:p>
                      <a:r>
                        <a:rPr sz="800"/>
                        <a:t>EW</a:t>
                      </a:r>
                    </a:p>
                  </a:txBody>
                  <a:tcPr/>
                </a:tc>
                <a:tc>
                  <a:txBody>
                    <a:bodyPr/>
                    <a:lstStyle/>
                    <a:p>
                      <a:r>
                        <a:rPr sz="800"/>
                        <a:t>4.91E+00</a:t>
                      </a:r>
                    </a:p>
                  </a:txBody>
                  <a:tcPr/>
                </a:tc>
                <a:tc>
                  <a:txBody>
                    <a:bodyPr/>
                    <a:lstStyle/>
                    <a:p>
                      <a:r>
                        <a:rPr sz="800"/>
                        <a:t>5.03E+01</a:t>
                      </a:r>
                    </a:p>
                  </a:txBody>
                  <a:tcPr/>
                </a:tc>
                <a:tc>
                  <a:txBody>
                    <a:bodyPr/>
                    <a:lstStyle/>
                    <a:p>
                      <a:r>
                        <a:rPr sz="800"/>
                        <a:t>9.14E+01</a:t>
                      </a:r>
                    </a:p>
                  </a:txBody>
                  <a:tcPr/>
                </a:tc>
                <a:tc>
                  <a:txBody>
                    <a:bodyPr/>
                    <a:lstStyle/>
                    <a:p>
                      <a:r>
                        <a:rPr sz="800"/>
                        <a:t>4.99E+01</a:t>
                      </a:r>
                    </a:p>
                  </a:txBody>
                  <a:tcPr/>
                </a:tc>
              </a:tr>
            </a:tbl>
          </a:graphicData>
        </a:graphic>
      </p:graphicFrame>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4.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100 years, rhyolitic magma, 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in case totally or predominantly rhyolitic magma would be involved, there will be at least 1 eruption similar to the F-2/F-4 ones (Plinian, VEI 4-5)?</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7.42E+00</a:t>
                      </a:r>
                    </a:p>
                  </a:txBody>
                  <a:tcPr/>
                </a:tc>
                <a:tc>
                  <a:txBody>
                    <a:bodyPr/>
                    <a:lstStyle/>
                    <a:p>
                      <a:r>
                        <a:rPr sz="800"/>
                        <a:t>4.47E+01</a:t>
                      </a:r>
                    </a:p>
                  </a:txBody>
                  <a:tcPr/>
                </a:tc>
                <a:tc>
                  <a:txBody>
                    <a:bodyPr/>
                    <a:lstStyle/>
                    <a:p>
                      <a:r>
                        <a:rPr sz="800"/>
                        <a:t>8.85E+01</a:t>
                      </a:r>
                    </a:p>
                  </a:txBody>
                  <a:tcPr/>
                </a:tc>
                <a:tc>
                  <a:txBody>
                    <a:bodyPr/>
                    <a:lstStyle/>
                    <a:p>
                      <a:r>
                        <a:rPr sz="800"/>
                        <a:t>4.77E+01</a:t>
                      </a:r>
                    </a:p>
                  </a:txBody>
                  <a:tcPr/>
                </a:tc>
              </a:tr>
              <a:tr h="1">
                <a:tc>
                  <a:txBody>
                    <a:bodyPr/>
                    <a:lstStyle/>
                    <a:p>
                      <a:r>
                        <a:rPr sz="800"/>
                        <a:t>EW</a:t>
                      </a:r>
                    </a:p>
                  </a:txBody>
                  <a:tcPr/>
                </a:tc>
                <a:tc>
                  <a:txBody>
                    <a:bodyPr/>
                    <a:lstStyle/>
                    <a:p>
                      <a:r>
                        <a:rPr sz="800"/>
                        <a:t>2.82E+00</a:t>
                      </a:r>
                    </a:p>
                  </a:txBody>
                  <a:tcPr/>
                </a:tc>
                <a:tc>
                  <a:txBody>
                    <a:bodyPr/>
                    <a:lstStyle/>
                    <a:p>
                      <a:r>
                        <a:rPr sz="800"/>
                        <a:t>3.97E+01</a:t>
                      </a:r>
                    </a:p>
                  </a:txBody>
                  <a:tcPr/>
                </a:tc>
                <a:tc>
                  <a:txBody>
                    <a:bodyPr/>
                    <a:lstStyle/>
                    <a:p>
                      <a:r>
                        <a:rPr sz="800"/>
                        <a:t>8.72E+01</a:t>
                      </a:r>
                    </a:p>
                  </a:txBody>
                  <a:tcPr/>
                </a:tc>
                <a:tc>
                  <a:txBody>
                    <a:bodyPr/>
                    <a:lstStyle/>
                    <a:p>
                      <a:r>
                        <a:rPr sz="800"/>
                        <a:t>4.23E+01</a:t>
                      </a:r>
                    </a:p>
                  </a:txBody>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5.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rhyolitic magma, other eruption type</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in case totally or predominantly rhyolitic magma would be involved, there will be at least 1 eruption of different type with respect to the previous ones?</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1.51E+00</a:t>
                      </a:r>
                    </a:p>
                  </a:txBody>
                  <a:tcPr/>
                </a:tc>
                <a:tc>
                  <a:txBody>
                    <a:bodyPr/>
                    <a:lstStyle/>
                    <a:p>
                      <a:r>
                        <a:rPr sz="800"/>
                        <a:t>1.00E+01</a:t>
                      </a:r>
                    </a:p>
                  </a:txBody>
                  <a:tcPr/>
                </a:tc>
                <a:tc>
                  <a:txBody>
                    <a:bodyPr/>
                    <a:lstStyle/>
                    <a:p>
                      <a:r>
                        <a:rPr sz="800"/>
                        <a:t>6.78E+01</a:t>
                      </a:r>
                    </a:p>
                  </a:txBody>
                  <a:tcPr/>
                </a:tc>
                <a:tc>
                  <a:txBody>
                    <a:bodyPr/>
                    <a:lstStyle/>
                    <a:p>
                      <a:r>
                        <a:rPr sz="800"/>
                        <a:t>1.66E+01</a:t>
                      </a:r>
                    </a:p>
                  </a:txBody>
                  <a:tcPr/>
                </a:tc>
              </a:tr>
              <a:tr h="1">
                <a:tc>
                  <a:txBody>
                    <a:bodyPr/>
                    <a:lstStyle/>
                    <a:p>
                      <a:r>
                        <a:rPr sz="800"/>
                        <a:t>EW</a:t>
                      </a:r>
                    </a:p>
                  </a:txBody>
                  <a:tcPr/>
                </a:tc>
                <a:tc>
                  <a:txBody>
                    <a:bodyPr/>
                    <a:lstStyle/>
                    <a:p>
                      <a:r>
                        <a:rPr sz="800"/>
                        <a:t>1.68E+00</a:t>
                      </a:r>
                    </a:p>
                  </a:txBody>
                  <a:tcPr/>
                </a:tc>
                <a:tc>
                  <a:txBody>
                    <a:bodyPr/>
                    <a:lstStyle/>
                    <a:p>
                      <a:r>
                        <a:rPr sz="800"/>
                        <a:t>1.19E+01</a:t>
                      </a:r>
                    </a:p>
                  </a:txBody>
                  <a:tcPr/>
                </a:tc>
                <a:tc>
                  <a:txBody>
                    <a:bodyPr/>
                    <a:lstStyle/>
                    <a:p>
                      <a:r>
                        <a:rPr sz="800"/>
                        <a:t>7.46E+01</a:t>
                      </a:r>
                    </a:p>
                  </a:txBody>
                  <a:tcPr/>
                </a:tc>
                <a:tc>
                  <a:txBody>
                    <a:bodyPr/>
                    <a:lstStyle/>
                    <a:p>
                      <a:r>
                        <a:rPr sz="800"/>
                        <a:t>2.00E+01</a:t>
                      </a:r>
                    </a:p>
                  </a:txBody>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6.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andesitic magma, Hydrovolcanic/Continuos ash emission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similar to the AD 2015 one (Hydrovolcanic to long-lasting ash emission, VEI 1-2)?</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1.87E+01</a:t>
                      </a:r>
                    </a:p>
                  </a:txBody>
                  <a:tcPr/>
                </a:tc>
                <a:tc>
                  <a:txBody>
                    <a:bodyPr/>
                    <a:lstStyle/>
                    <a:p>
                      <a:r>
                        <a:rPr sz="800"/>
                        <a:t>7.54E+01</a:t>
                      </a:r>
                    </a:p>
                  </a:txBody>
                  <a:tcPr/>
                </a:tc>
                <a:tc>
                  <a:txBody>
                    <a:bodyPr/>
                    <a:lstStyle/>
                    <a:p>
                      <a:r>
                        <a:rPr sz="800"/>
                        <a:t>9.37E+01</a:t>
                      </a:r>
                    </a:p>
                  </a:txBody>
                  <a:tcPr/>
                </a:tc>
                <a:tc>
                  <a:txBody>
                    <a:bodyPr/>
                    <a:lstStyle/>
                    <a:p>
                      <a:r>
                        <a:rPr sz="800"/>
                        <a:t>6.67E+01</a:t>
                      </a:r>
                    </a:p>
                  </a:txBody>
                  <a:tcPr/>
                </a:tc>
              </a:tr>
              <a:tr h="1">
                <a:tc>
                  <a:txBody>
                    <a:bodyPr/>
                    <a:lstStyle/>
                    <a:p>
                      <a:r>
                        <a:rPr sz="800"/>
                        <a:t>EW</a:t>
                      </a:r>
                    </a:p>
                  </a:txBody>
                  <a:tcPr/>
                </a:tc>
                <a:tc>
                  <a:txBody>
                    <a:bodyPr/>
                    <a:lstStyle/>
                    <a:p>
                      <a:r>
                        <a:rPr sz="800"/>
                        <a:t>1.30E+01</a:t>
                      </a:r>
                    </a:p>
                  </a:txBody>
                  <a:tcPr/>
                </a:tc>
                <a:tc>
                  <a:txBody>
                    <a:bodyPr/>
                    <a:lstStyle/>
                    <a:p>
                      <a:r>
                        <a:rPr sz="800"/>
                        <a:t>6.06E+01</a:t>
                      </a:r>
                    </a:p>
                  </a:txBody>
                  <a:tcPr/>
                </a:tc>
                <a:tc>
                  <a:txBody>
                    <a:bodyPr/>
                    <a:lstStyle/>
                    <a:p>
                      <a:r>
                        <a:rPr sz="800"/>
                        <a:t>9.34E+01</a:t>
                      </a:r>
                    </a:p>
                  </a:txBody>
                  <a:tcPr/>
                </a:tc>
                <a:tc>
                  <a:txBody>
                    <a:bodyPr/>
                    <a:lstStyle/>
                    <a:p>
                      <a:r>
                        <a:rPr sz="800"/>
                        <a:t>5.76E+01</a:t>
                      </a:r>
                    </a:p>
                  </a:txBody>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7.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andesitic magma, Violent Strombolian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similar to the ones in the XIX century (Violent Strombolian, VEI 2-3)?</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1.27E+01</a:t>
                      </a:r>
                    </a:p>
                  </a:txBody>
                  <a:tcPr/>
                </a:tc>
                <a:tc>
                  <a:txBody>
                    <a:bodyPr/>
                    <a:lstStyle/>
                    <a:p>
                      <a:r>
                        <a:rPr sz="800"/>
                        <a:t>6.18E+01</a:t>
                      </a:r>
                    </a:p>
                  </a:txBody>
                  <a:tcPr/>
                </a:tc>
                <a:tc>
                  <a:txBody>
                    <a:bodyPr/>
                    <a:lstStyle/>
                    <a:p>
                      <a:r>
                        <a:rPr sz="800"/>
                        <a:t>9.32E+01</a:t>
                      </a:r>
                    </a:p>
                  </a:txBody>
                  <a:tcPr/>
                </a:tc>
                <a:tc>
                  <a:txBody>
                    <a:bodyPr/>
                    <a:lstStyle/>
                    <a:p>
                      <a:r>
                        <a:rPr sz="800"/>
                        <a:t>5.83E+01</a:t>
                      </a:r>
                    </a:p>
                  </a:txBody>
                  <a:tcPr/>
                </a:tc>
              </a:tr>
              <a:tr h="1">
                <a:tc>
                  <a:txBody>
                    <a:bodyPr/>
                    <a:lstStyle/>
                    <a:p>
                      <a:r>
                        <a:rPr sz="800"/>
                        <a:t>EW</a:t>
                      </a:r>
                    </a:p>
                  </a:txBody>
                  <a:tcPr/>
                </a:tc>
                <a:tc>
                  <a:txBody>
                    <a:bodyPr/>
                    <a:lstStyle/>
                    <a:p>
                      <a:r>
                        <a:rPr sz="800"/>
                        <a:t>1.17E+01</a:t>
                      </a:r>
                    </a:p>
                  </a:txBody>
                  <a:tcPr/>
                </a:tc>
                <a:tc>
                  <a:txBody>
                    <a:bodyPr/>
                    <a:lstStyle/>
                    <a:p>
                      <a:r>
                        <a:rPr sz="800"/>
                        <a:t>5.19E+01</a:t>
                      </a:r>
                    </a:p>
                  </a:txBody>
                  <a:tcPr/>
                </a:tc>
                <a:tc>
                  <a:txBody>
                    <a:bodyPr/>
                    <a:lstStyle/>
                    <a:p>
                      <a:r>
                        <a:rPr sz="800"/>
                        <a:t>9.03E+01</a:t>
                      </a:r>
                    </a:p>
                  </a:txBody>
                  <a:tcPr/>
                </a:tc>
                <a:tc>
                  <a:txBody>
                    <a:bodyPr/>
                    <a:lstStyle/>
                    <a:p>
                      <a:r>
                        <a:rPr sz="800"/>
                        <a:t>4.98E+01</a:t>
                      </a:r>
                    </a:p>
                  </a:txBody>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8.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andesitic magma, SubPlinian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similar to the AD 1877 one (SubPlinian, VEI 3-4)?</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7.16E+00</a:t>
                      </a:r>
                    </a:p>
                  </a:txBody>
                  <a:tcPr/>
                </a:tc>
                <a:tc>
                  <a:txBody>
                    <a:bodyPr/>
                    <a:lstStyle/>
                    <a:p>
                      <a:r>
                        <a:rPr sz="800"/>
                        <a:t>3.95E+01</a:t>
                      </a:r>
                    </a:p>
                  </a:txBody>
                  <a:tcPr/>
                </a:tc>
                <a:tc>
                  <a:txBody>
                    <a:bodyPr/>
                    <a:lstStyle/>
                    <a:p>
                      <a:r>
                        <a:rPr sz="800"/>
                        <a:t>8.50E+01</a:t>
                      </a:r>
                    </a:p>
                  </a:txBody>
                  <a:tcPr/>
                </a:tc>
                <a:tc>
                  <a:txBody>
                    <a:bodyPr/>
                    <a:lstStyle/>
                    <a:p>
                      <a:r>
                        <a:rPr sz="800"/>
                        <a:t>4.12E+01</a:t>
                      </a:r>
                    </a:p>
                  </a:txBody>
                  <a:tcPr/>
                </a:tc>
              </a:tr>
              <a:tr h="1">
                <a:tc>
                  <a:txBody>
                    <a:bodyPr/>
                    <a:lstStyle/>
                    <a:p>
                      <a:r>
                        <a:rPr sz="800"/>
                        <a:t>EW</a:t>
                      </a:r>
                    </a:p>
                  </a:txBody>
                  <a:tcPr/>
                </a:tc>
                <a:tc>
                  <a:txBody>
                    <a:bodyPr/>
                    <a:lstStyle/>
                    <a:p>
                      <a:r>
                        <a:rPr sz="800"/>
                        <a:t>5.28E+00</a:t>
                      </a:r>
                    </a:p>
                  </a:txBody>
                  <a:tcPr/>
                </a:tc>
                <a:tc>
                  <a:txBody>
                    <a:bodyPr/>
                    <a:lstStyle/>
                    <a:p>
                      <a:r>
                        <a:rPr sz="800"/>
                        <a:t>3.02E+01</a:t>
                      </a:r>
                    </a:p>
                  </a:txBody>
                  <a:tcPr/>
                </a:tc>
                <a:tc>
                  <a:txBody>
                    <a:bodyPr/>
                    <a:lstStyle/>
                    <a:p>
                      <a:r>
                        <a:rPr sz="800"/>
                        <a:t>8.10E+01</a:t>
                      </a:r>
                    </a:p>
                  </a:txBody>
                  <a:tcPr/>
                </a:tc>
                <a:tc>
                  <a:txBody>
                    <a:bodyPr/>
                    <a:lstStyle/>
                    <a:p>
                      <a:r>
                        <a:rPr sz="800"/>
                        <a:t>3.49E+01</a:t>
                      </a:r>
                    </a:p>
                  </a:txBody>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19.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Next 100 years, andesitic magma, Plinian eruption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similar to the Layers 3/5 ones (Plinian, VEI 4-5)?</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2.38E+00</a:t>
                      </a:r>
                    </a:p>
                  </a:txBody>
                  <a:tcPr/>
                </a:tc>
                <a:tc>
                  <a:txBody>
                    <a:bodyPr/>
                    <a:lstStyle/>
                    <a:p>
                      <a:r>
                        <a:rPr sz="800"/>
                        <a:t>1.96E+01</a:t>
                      </a:r>
                    </a:p>
                  </a:txBody>
                  <a:tcPr/>
                </a:tc>
                <a:tc>
                  <a:txBody>
                    <a:bodyPr/>
                    <a:lstStyle/>
                    <a:p>
                      <a:r>
                        <a:rPr sz="800"/>
                        <a:t>4.60E+01</a:t>
                      </a:r>
                    </a:p>
                  </a:txBody>
                  <a:tcPr/>
                </a:tc>
                <a:tc>
                  <a:txBody>
                    <a:bodyPr/>
                    <a:lstStyle/>
                    <a:p>
                      <a:r>
                        <a:rPr sz="800"/>
                        <a:t>2.12E+01</a:t>
                      </a:r>
                    </a:p>
                  </a:txBody>
                  <a:tcPr/>
                </a:tc>
              </a:tr>
              <a:tr h="1">
                <a:tc>
                  <a:txBody>
                    <a:bodyPr/>
                    <a:lstStyle/>
                    <a:p>
                      <a:r>
                        <a:rPr sz="800"/>
                        <a:t>EW</a:t>
                      </a:r>
                    </a:p>
                  </a:txBody>
                  <a:tcPr/>
                </a:tc>
                <a:tc>
                  <a:txBody>
                    <a:bodyPr/>
                    <a:lstStyle/>
                    <a:p>
                      <a:r>
                        <a:rPr sz="800"/>
                        <a:t>1.35E+00</a:t>
                      </a:r>
                    </a:p>
                  </a:txBody>
                  <a:tcPr/>
                </a:tc>
                <a:tc>
                  <a:txBody>
                    <a:bodyPr/>
                    <a:lstStyle/>
                    <a:p>
                      <a:r>
                        <a:rPr sz="800"/>
                        <a:t>1.47E+01</a:t>
                      </a:r>
                    </a:p>
                  </a:txBody>
                  <a:tcPr/>
                </a:tc>
                <a:tc>
                  <a:txBody>
                    <a:bodyPr/>
                    <a:lstStyle/>
                    <a:p>
                      <a:r>
                        <a:rPr sz="800"/>
                        <a:t>5.84E+01</a:t>
                      </a:r>
                    </a:p>
                  </a:txBody>
                  <a:tcPr/>
                </a:tc>
                <a:tc>
                  <a:txBody>
                    <a:bodyPr/>
                    <a:lstStyle/>
                    <a:p>
                      <a:r>
                        <a:rPr sz="800"/>
                        <a:t>2.00E+01</a:t>
                      </a:r>
                    </a:p>
                  </a:txBody>
                  <a:tcPr/>
                </a:tc>
              </a:tr>
            </a:tbl>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0.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Next 100 years, andesitic magma, other eruption type</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Given the present state of Cotopaxi volcano and your knowledge of its past eruptive chronology, how much probability do you assign to the possibility that, for the next 100 years at Cotopaxi, in case totally or predominantly andesitic magma would be involved, there will be at least 1 eruption of different type with respect to the previous ones?</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1.62E+00</a:t>
                      </a:r>
                    </a:p>
                  </a:txBody>
                  <a:tcPr/>
                </a:tc>
                <a:tc>
                  <a:txBody>
                    <a:bodyPr/>
                    <a:lstStyle/>
                    <a:p>
                      <a:r>
                        <a:rPr sz="800"/>
                        <a:t>8.90E+00</a:t>
                      </a:r>
                    </a:p>
                  </a:txBody>
                  <a:tcPr/>
                </a:tc>
                <a:tc>
                  <a:txBody>
                    <a:bodyPr/>
                    <a:lstStyle/>
                    <a:p>
                      <a:r>
                        <a:rPr sz="800"/>
                        <a:t>4.23E+01</a:t>
                      </a:r>
                    </a:p>
                  </a:txBody>
                  <a:tcPr/>
                </a:tc>
                <a:tc>
                  <a:txBody>
                    <a:bodyPr/>
                    <a:lstStyle/>
                    <a:p>
                      <a:r>
                        <a:rPr sz="800"/>
                        <a:t>1.32E+01</a:t>
                      </a:r>
                    </a:p>
                  </a:txBody>
                  <a:tcPr/>
                </a:tc>
              </a:tr>
              <a:tr h="1">
                <a:tc>
                  <a:txBody>
                    <a:bodyPr/>
                    <a:lstStyle/>
                    <a:p>
                      <a:r>
                        <a:rPr sz="800"/>
                        <a:t>EW</a:t>
                      </a:r>
                    </a:p>
                  </a:txBody>
                  <a:tcPr/>
                </a:tc>
                <a:tc>
                  <a:txBody>
                    <a:bodyPr/>
                    <a:lstStyle/>
                    <a:p>
                      <a:r>
                        <a:rPr sz="800"/>
                        <a:t>1.26E+00</a:t>
                      </a:r>
                    </a:p>
                  </a:txBody>
                  <a:tcPr/>
                </a:tc>
                <a:tc>
                  <a:txBody>
                    <a:bodyPr/>
                    <a:lstStyle/>
                    <a:p>
                      <a:r>
                        <a:rPr sz="800"/>
                        <a:t>1.05E+01</a:t>
                      </a:r>
                    </a:p>
                  </a:txBody>
                  <a:tcPr/>
                </a:tc>
                <a:tc>
                  <a:txBody>
                    <a:bodyPr/>
                    <a:lstStyle/>
                    <a:p>
                      <a:r>
                        <a:rPr sz="800"/>
                        <a:t>5.50E+01</a:t>
                      </a:r>
                    </a:p>
                  </a:txBody>
                  <a:tcPr/>
                </a:tc>
                <a:tc>
                  <a:txBody>
                    <a:bodyPr/>
                    <a:lstStyle/>
                    <a:p>
                      <a:r>
                        <a:rPr sz="800"/>
                        <a:t>1.68E+01</a:t>
                      </a:r>
                    </a:p>
                  </a:txBody>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1.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rhyolitic,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rhyolitic magma: what is the mean duration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1.64E+01</a:t>
                      </a:r>
                    </a:p>
                  </a:txBody>
                  <a:tcPr/>
                </a:tc>
                <a:tc>
                  <a:txBody>
                    <a:bodyPr/>
                    <a:lstStyle/>
                    <a:p>
                      <a:r>
                        <a:rPr sz="800"/>
                        <a:t>1.53E+02</a:t>
                      </a:r>
                    </a:p>
                  </a:txBody>
                  <a:tcPr/>
                </a:tc>
                <a:tc>
                  <a:txBody>
                    <a:bodyPr/>
                    <a:lstStyle/>
                    <a:p>
                      <a:r>
                        <a:rPr sz="800"/>
                        <a:t>6.09E+03</a:t>
                      </a:r>
                    </a:p>
                  </a:txBody>
                  <a:tcPr/>
                </a:tc>
                <a:tc>
                  <a:txBody>
                    <a:bodyPr/>
                    <a:lstStyle/>
                    <a:p>
                      <a:r>
                        <a:rPr sz="800"/>
                        <a:t>1.93E+02</a:t>
                      </a:r>
                    </a:p>
                  </a:txBody>
                  <a:tcPr/>
                </a:tc>
              </a:tr>
              <a:tr h="1">
                <a:tc>
                  <a:txBody>
                    <a:bodyPr/>
                    <a:lstStyle/>
                    <a:p>
                      <a:r>
                        <a:rPr sz="800"/>
                        <a:t>EW</a:t>
                      </a:r>
                    </a:p>
                  </a:txBody>
                  <a:tcPr/>
                </a:tc>
                <a:tc>
                  <a:txBody>
                    <a:bodyPr/>
                    <a:lstStyle/>
                    <a:p>
                      <a:r>
                        <a:rPr sz="800"/>
                        <a:t>9.24E+00</a:t>
                      </a:r>
                    </a:p>
                  </a:txBody>
                  <a:tcPr/>
                </a:tc>
                <a:tc>
                  <a:txBody>
                    <a:bodyPr/>
                    <a:lstStyle/>
                    <a:p>
                      <a:r>
                        <a:rPr sz="800"/>
                        <a:t>1.92E+02</a:t>
                      </a:r>
                    </a:p>
                  </a:txBody>
                  <a:tcPr/>
                </a:tc>
                <a:tc>
                  <a:txBody>
                    <a:bodyPr/>
                    <a:lstStyle/>
                    <a:p>
                      <a:r>
                        <a:rPr sz="800"/>
                        <a:t>4.16E+03</a:t>
                      </a:r>
                    </a:p>
                  </a:txBody>
                  <a:tcPr/>
                </a:tc>
                <a:tc>
                  <a:txBody>
                    <a:bodyPr/>
                    <a:lstStyle/>
                    <a:p>
                      <a:r>
                        <a:rPr sz="800"/>
                        <a:t>1.71E+02</a:t>
                      </a:r>
                    </a:p>
                  </a:txBody>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2.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rhyolitic,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rhyolitic magma: what is the total amount of mass of the tephra fallout deposits associated to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3.08E+09</a:t>
                      </a:r>
                    </a:p>
                  </a:txBody>
                  <a:tcPr/>
                </a:tc>
                <a:tc>
                  <a:txBody>
                    <a:bodyPr/>
                    <a:lstStyle/>
                    <a:p>
                      <a:r>
                        <a:rPr sz="800"/>
                        <a:t>5.13E+10</a:t>
                      </a:r>
                    </a:p>
                  </a:txBody>
                  <a:tcPr/>
                </a:tc>
                <a:tc>
                  <a:txBody>
                    <a:bodyPr/>
                    <a:lstStyle/>
                    <a:p>
                      <a:r>
                        <a:rPr sz="800"/>
                        <a:t>7.51E+11</a:t>
                      </a:r>
                    </a:p>
                  </a:txBody>
                  <a:tcPr/>
                </a:tc>
                <a:tc>
                  <a:txBody>
                    <a:bodyPr/>
                    <a:lstStyle/>
                    <a:p>
                      <a:r>
                        <a:rPr sz="800"/>
                        <a:t>5.12E+10</a:t>
                      </a:r>
                    </a:p>
                  </a:txBody>
                  <a:tcPr/>
                </a:tc>
              </a:tr>
              <a:tr h="1">
                <a:tc>
                  <a:txBody>
                    <a:bodyPr/>
                    <a:lstStyle/>
                    <a:p>
                      <a:r>
                        <a:rPr sz="800"/>
                        <a:t>EW</a:t>
                      </a:r>
                    </a:p>
                  </a:txBody>
                  <a:tcPr/>
                </a:tc>
                <a:tc>
                  <a:txBody>
                    <a:bodyPr/>
                    <a:lstStyle/>
                    <a:p>
                      <a:r>
                        <a:rPr sz="800"/>
                        <a:t>7.94E+05</a:t>
                      </a:r>
                    </a:p>
                  </a:txBody>
                  <a:tcPr/>
                </a:tc>
                <a:tc>
                  <a:txBody>
                    <a:bodyPr/>
                    <a:lstStyle/>
                    <a:p>
                      <a:r>
                        <a:rPr sz="800"/>
                        <a:t>3.37E+10</a:t>
                      </a:r>
                    </a:p>
                  </a:txBody>
                  <a:tcPr/>
                </a:tc>
                <a:tc>
                  <a:txBody>
                    <a:bodyPr/>
                    <a:lstStyle/>
                    <a:p>
                      <a:r>
                        <a:rPr sz="800"/>
                        <a:t>7.63E+11</a:t>
                      </a:r>
                    </a:p>
                  </a:txBody>
                  <a:tcPr/>
                </a:tc>
                <a:tc>
                  <a:txBody>
                    <a:bodyPr/>
                    <a:lstStyle/>
                    <a:p>
                      <a:r>
                        <a:rPr sz="800"/>
                        <a:t>1.29E+10</a:t>
                      </a:r>
                    </a:p>
                  </a:txBody>
                  <a:tcPr/>
                </a:tc>
              </a:tr>
            </a:tbl>
          </a:graphicData>
        </a:graphic>
      </p:graphicFrame>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3.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rhyolitic,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rhyolitic magma: what is the average plume height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6.58E+03</a:t>
                      </a:r>
                    </a:p>
                  </a:txBody>
                  <a:tcPr/>
                </a:tc>
                <a:tc>
                  <a:txBody>
                    <a:bodyPr/>
                    <a:lstStyle/>
                    <a:p>
                      <a:r>
                        <a:rPr sz="800"/>
                        <a:t>1.59E+04</a:t>
                      </a:r>
                    </a:p>
                  </a:txBody>
                  <a:tcPr/>
                </a:tc>
                <a:tc>
                  <a:txBody>
                    <a:bodyPr/>
                    <a:lstStyle/>
                    <a:p>
                      <a:r>
                        <a:rPr sz="800"/>
                        <a:t>2.53E+04</a:t>
                      </a:r>
                    </a:p>
                  </a:txBody>
                  <a:tcPr/>
                </a:tc>
                <a:tc>
                  <a:txBody>
                    <a:bodyPr/>
                    <a:lstStyle/>
                    <a:p>
                      <a:r>
                        <a:rPr sz="800"/>
                        <a:t>1.47E+04</a:t>
                      </a:r>
                    </a:p>
                  </a:txBody>
                  <a:tcPr/>
                </a:tc>
              </a:tr>
              <a:tr h="1">
                <a:tc>
                  <a:txBody>
                    <a:bodyPr/>
                    <a:lstStyle/>
                    <a:p>
                      <a:r>
                        <a:rPr sz="800"/>
                        <a:t>EW</a:t>
                      </a:r>
                    </a:p>
                  </a:txBody>
                  <a:tcPr/>
                </a:tc>
                <a:tc>
                  <a:txBody>
                    <a:bodyPr/>
                    <a:lstStyle/>
                    <a:p>
                      <a:r>
                        <a:rPr sz="800"/>
                        <a:t>1.66E+03</a:t>
                      </a:r>
                    </a:p>
                  </a:txBody>
                  <a:tcPr/>
                </a:tc>
                <a:tc>
                  <a:txBody>
                    <a:bodyPr/>
                    <a:lstStyle/>
                    <a:p>
                      <a:r>
                        <a:rPr sz="800"/>
                        <a:t>1.67E+04</a:t>
                      </a:r>
                    </a:p>
                  </a:txBody>
                  <a:tcPr/>
                </a:tc>
                <a:tc>
                  <a:txBody>
                    <a:bodyPr/>
                    <a:lstStyle/>
                    <a:p>
                      <a:r>
                        <a:rPr sz="800"/>
                        <a:t>2.78E+04</a:t>
                      </a:r>
                    </a:p>
                  </a:txBody>
                  <a:tcPr/>
                </a:tc>
                <a:tc>
                  <a:txBody>
                    <a:bodyPr/>
                    <a:lstStyle/>
                    <a:p>
                      <a:r>
                        <a:rPr sz="800"/>
                        <a:t>1.36E+04</a:t>
                      </a:r>
                    </a:p>
                  </a:txBody>
                  <a:tcPr/>
                </a:tc>
              </a:tr>
            </a:tbl>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4.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rhyolitic,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rhyolitic magma: what is the mean duration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2.90E+01</a:t>
                      </a:r>
                    </a:p>
                  </a:txBody>
                  <a:tcPr/>
                </a:tc>
                <a:tc>
                  <a:txBody>
                    <a:bodyPr/>
                    <a:lstStyle/>
                    <a:p>
                      <a:r>
                        <a:rPr sz="800"/>
                        <a:t>3.51E+02</a:t>
                      </a:r>
                    </a:p>
                  </a:txBody>
                  <a:tcPr/>
                </a:tc>
                <a:tc>
                  <a:txBody>
                    <a:bodyPr/>
                    <a:lstStyle/>
                    <a:p>
                      <a:r>
                        <a:rPr sz="800"/>
                        <a:t>1.26E+04</a:t>
                      </a:r>
                    </a:p>
                  </a:txBody>
                  <a:tcPr/>
                </a:tc>
                <a:tc>
                  <a:txBody>
                    <a:bodyPr/>
                    <a:lstStyle/>
                    <a:p>
                      <a:r>
                        <a:rPr sz="800"/>
                        <a:t>3.75E+02</a:t>
                      </a:r>
                    </a:p>
                  </a:txBody>
                  <a:tcPr/>
                </a:tc>
              </a:tr>
              <a:tr h="1">
                <a:tc>
                  <a:txBody>
                    <a:bodyPr/>
                    <a:lstStyle/>
                    <a:p>
                      <a:r>
                        <a:rPr sz="800"/>
                        <a:t>EW</a:t>
                      </a:r>
                    </a:p>
                  </a:txBody>
                  <a:tcPr/>
                </a:tc>
                <a:tc>
                  <a:txBody>
                    <a:bodyPr/>
                    <a:lstStyle/>
                    <a:p>
                      <a:r>
                        <a:rPr sz="800"/>
                        <a:t>1.49E+01</a:t>
                      </a:r>
                    </a:p>
                  </a:txBody>
                  <a:tcPr/>
                </a:tc>
                <a:tc>
                  <a:txBody>
                    <a:bodyPr/>
                    <a:lstStyle/>
                    <a:p>
                      <a:r>
                        <a:rPr sz="800"/>
                        <a:t>3.35E+02</a:t>
                      </a:r>
                    </a:p>
                  </a:txBody>
                  <a:tcPr/>
                </a:tc>
                <a:tc>
                  <a:txBody>
                    <a:bodyPr/>
                    <a:lstStyle/>
                    <a:p>
                      <a:r>
                        <a:rPr sz="800"/>
                        <a:t>9.76E+03</a:t>
                      </a:r>
                    </a:p>
                  </a:txBody>
                  <a:tcPr/>
                </a:tc>
                <a:tc>
                  <a:txBody>
                    <a:bodyPr/>
                    <a:lstStyle/>
                    <a:p>
                      <a:r>
                        <a:rPr sz="800"/>
                        <a:t>2.94E+02</a:t>
                      </a:r>
                    </a:p>
                  </a:txBody>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5.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rhyolitic,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rhyolitic magma: what is the total amount of mass of the tephra fallout deposits associated to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2.64E+10</a:t>
                      </a:r>
                    </a:p>
                  </a:txBody>
                  <a:tcPr/>
                </a:tc>
                <a:tc>
                  <a:txBody>
                    <a:bodyPr/>
                    <a:lstStyle/>
                    <a:p>
                      <a:r>
                        <a:rPr sz="800"/>
                        <a:t>4.19E+11</a:t>
                      </a:r>
                    </a:p>
                  </a:txBody>
                  <a:tcPr/>
                </a:tc>
                <a:tc>
                  <a:txBody>
                    <a:bodyPr/>
                    <a:lstStyle/>
                    <a:p>
                      <a:r>
                        <a:rPr sz="800"/>
                        <a:t>6.45E+12</a:t>
                      </a:r>
                    </a:p>
                  </a:txBody>
                  <a:tcPr/>
                </a:tc>
                <a:tc>
                  <a:txBody>
                    <a:bodyPr/>
                    <a:lstStyle/>
                    <a:p>
                      <a:r>
                        <a:rPr sz="800"/>
                        <a:t>4.36E+11</a:t>
                      </a:r>
                    </a:p>
                  </a:txBody>
                  <a:tcPr/>
                </a:tc>
              </a:tr>
              <a:tr h="1">
                <a:tc>
                  <a:txBody>
                    <a:bodyPr/>
                    <a:lstStyle/>
                    <a:p>
                      <a:r>
                        <a:rPr sz="800"/>
                        <a:t>EW</a:t>
                      </a:r>
                    </a:p>
                  </a:txBody>
                  <a:tcPr/>
                </a:tc>
                <a:tc>
                  <a:txBody>
                    <a:bodyPr/>
                    <a:lstStyle/>
                    <a:p>
                      <a:r>
                        <a:rPr sz="800"/>
                        <a:t>5.77E+05</a:t>
                      </a:r>
                    </a:p>
                  </a:txBody>
                  <a:tcPr/>
                </a:tc>
                <a:tc>
                  <a:txBody>
                    <a:bodyPr/>
                    <a:lstStyle/>
                    <a:p>
                      <a:r>
                        <a:rPr sz="800"/>
                        <a:t>4.70E+11</a:t>
                      </a:r>
                    </a:p>
                  </a:txBody>
                  <a:tcPr/>
                </a:tc>
                <a:tc>
                  <a:txBody>
                    <a:bodyPr/>
                    <a:lstStyle/>
                    <a:p>
                      <a:r>
                        <a:rPr sz="800"/>
                        <a:t>3.02E+13</a:t>
                      </a:r>
                    </a:p>
                  </a:txBody>
                  <a:tcPr/>
                </a:tc>
                <a:tc>
                  <a:txBody>
                    <a:bodyPr/>
                    <a:lstStyle/>
                    <a:p>
                      <a:r>
                        <a:rPr sz="800"/>
                        <a:t>1.57E+11</a:t>
                      </a:r>
                    </a:p>
                  </a:txBody>
                  <a:tcPr/>
                </a:tc>
              </a:tr>
            </a:tbl>
          </a:graphicData>
        </a:graphic>
      </p:graphicFrame>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6.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rhyolitic,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rhyolitic magma: what is the average plume height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1.11E+04</a:t>
                      </a:r>
                    </a:p>
                  </a:txBody>
                  <a:tcPr/>
                </a:tc>
                <a:tc>
                  <a:txBody>
                    <a:bodyPr/>
                    <a:lstStyle/>
                    <a:p>
                      <a:r>
                        <a:rPr sz="800"/>
                        <a:t>2.45E+04</a:t>
                      </a:r>
                    </a:p>
                  </a:txBody>
                  <a:tcPr/>
                </a:tc>
                <a:tc>
                  <a:txBody>
                    <a:bodyPr/>
                    <a:lstStyle/>
                    <a:p>
                      <a:r>
                        <a:rPr sz="800"/>
                        <a:t>3.93E+04</a:t>
                      </a:r>
                    </a:p>
                  </a:txBody>
                  <a:tcPr/>
                </a:tc>
                <a:tc>
                  <a:txBody>
                    <a:bodyPr/>
                    <a:lstStyle/>
                    <a:p>
                      <a:r>
                        <a:rPr sz="800"/>
                        <a:t>2.33E+04</a:t>
                      </a:r>
                    </a:p>
                  </a:txBody>
                  <a:tcPr/>
                </a:tc>
              </a:tr>
              <a:tr h="1">
                <a:tc>
                  <a:txBody>
                    <a:bodyPr/>
                    <a:lstStyle/>
                    <a:p>
                      <a:r>
                        <a:rPr sz="800"/>
                        <a:t>EW</a:t>
                      </a:r>
                    </a:p>
                  </a:txBody>
                  <a:tcPr/>
                </a:tc>
                <a:tc>
                  <a:txBody>
                    <a:bodyPr/>
                    <a:lstStyle/>
                    <a:p>
                      <a:r>
                        <a:rPr sz="800"/>
                        <a:t>5.32E+03</a:t>
                      </a:r>
                    </a:p>
                  </a:txBody>
                  <a:tcPr/>
                </a:tc>
                <a:tc>
                  <a:txBody>
                    <a:bodyPr/>
                    <a:lstStyle/>
                    <a:p>
                      <a:r>
                        <a:rPr sz="800"/>
                        <a:t>2.63E+04</a:t>
                      </a:r>
                    </a:p>
                  </a:txBody>
                  <a:tcPr/>
                </a:tc>
                <a:tc>
                  <a:txBody>
                    <a:bodyPr/>
                    <a:lstStyle/>
                    <a:p>
                      <a:r>
                        <a:rPr sz="800"/>
                        <a:t>4.11E+04</a:t>
                      </a:r>
                    </a:p>
                  </a:txBody>
                  <a:tcPr/>
                </a:tc>
                <a:tc>
                  <a:txBody>
                    <a:bodyPr/>
                    <a:lstStyle/>
                    <a:p>
                      <a:r>
                        <a:rPr sz="800"/>
                        <a:t>2.21E+04</a:t>
                      </a:r>
                    </a:p>
                  </a:txBody>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7.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Hydrovolcanic/Continuos ash emission andesitic,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Hydrovolcanic to long-lasting ash emission eruptions – andesitic magma: what is the mean duration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2.84E+02</a:t>
                      </a:r>
                    </a:p>
                  </a:txBody>
                  <a:tcPr/>
                </a:tc>
                <a:tc>
                  <a:txBody>
                    <a:bodyPr/>
                    <a:lstStyle/>
                    <a:p>
                      <a:r>
                        <a:rPr sz="800"/>
                        <a:t>4.30E+04</a:t>
                      </a:r>
                    </a:p>
                  </a:txBody>
                  <a:tcPr/>
                </a:tc>
                <a:tc>
                  <a:txBody>
                    <a:bodyPr/>
                    <a:lstStyle/>
                    <a:p>
                      <a:r>
                        <a:rPr sz="800"/>
                        <a:t>1.09E+06</a:t>
                      </a:r>
                    </a:p>
                  </a:txBody>
                  <a:tcPr/>
                </a:tc>
                <a:tc>
                  <a:txBody>
                    <a:bodyPr/>
                    <a:lstStyle/>
                    <a:p>
                      <a:r>
                        <a:rPr sz="800"/>
                        <a:t>3.31E+04</a:t>
                      </a:r>
                    </a:p>
                  </a:txBody>
                  <a:tcPr/>
                </a:tc>
              </a:tr>
              <a:tr h="1">
                <a:tc>
                  <a:txBody>
                    <a:bodyPr/>
                    <a:lstStyle/>
                    <a:p>
                      <a:r>
                        <a:rPr sz="800"/>
                        <a:t>EW</a:t>
                      </a:r>
                    </a:p>
                  </a:txBody>
                  <a:tcPr/>
                </a:tc>
                <a:tc>
                  <a:txBody>
                    <a:bodyPr/>
                    <a:lstStyle/>
                    <a:p>
                      <a:r>
                        <a:rPr sz="800"/>
                        <a:t>3.20E+01</a:t>
                      </a:r>
                    </a:p>
                  </a:txBody>
                  <a:tcPr/>
                </a:tc>
                <a:tc>
                  <a:txBody>
                    <a:bodyPr/>
                    <a:lstStyle/>
                    <a:p>
                      <a:r>
                        <a:rPr sz="800"/>
                        <a:t>4.48E+04</a:t>
                      </a:r>
                    </a:p>
                  </a:txBody>
                  <a:tcPr/>
                </a:tc>
                <a:tc>
                  <a:txBody>
                    <a:bodyPr/>
                    <a:lstStyle/>
                    <a:p>
                      <a:r>
                        <a:rPr sz="800"/>
                        <a:t>8.22E+05</a:t>
                      </a:r>
                    </a:p>
                  </a:txBody>
                  <a:tcPr/>
                </a:tc>
                <a:tc>
                  <a:txBody>
                    <a:bodyPr/>
                    <a:lstStyle/>
                    <a:p>
                      <a:r>
                        <a:rPr sz="800"/>
                        <a:t>1.75E+04</a:t>
                      </a:r>
                    </a:p>
                  </a:txBody>
                  <a:tcPr/>
                </a:tc>
              </a:tr>
            </a:tbl>
          </a:graphicData>
        </a:graphic>
      </p:graphicFrame>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8.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Hydrovolcanic/Continuos ash emission andesitic,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Hydrovolcanic to long-lasting ash emission eruptions – andesitic magma: what is the total amount of mass of the tephra fallout deposits associated to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1.58E+05</a:t>
                      </a:r>
                    </a:p>
                  </a:txBody>
                  <a:tcPr/>
                </a:tc>
                <a:tc>
                  <a:txBody>
                    <a:bodyPr/>
                    <a:lstStyle/>
                    <a:p>
                      <a:r>
                        <a:rPr sz="800"/>
                        <a:t>8.61E+08</a:t>
                      </a:r>
                    </a:p>
                  </a:txBody>
                  <a:tcPr/>
                </a:tc>
                <a:tc>
                  <a:txBody>
                    <a:bodyPr/>
                    <a:lstStyle/>
                    <a:p>
                      <a:r>
                        <a:rPr sz="800"/>
                        <a:t>1.10E+11</a:t>
                      </a:r>
                    </a:p>
                  </a:txBody>
                  <a:tcPr/>
                </a:tc>
                <a:tc>
                  <a:txBody>
                    <a:bodyPr/>
                    <a:lstStyle/>
                    <a:p>
                      <a:r>
                        <a:rPr sz="800"/>
                        <a:t>4.78E+08</a:t>
                      </a:r>
                    </a:p>
                  </a:txBody>
                  <a:tcPr/>
                </a:tc>
              </a:tr>
              <a:tr h="1">
                <a:tc>
                  <a:txBody>
                    <a:bodyPr/>
                    <a:lstStyle/>
                    <a:p>
                      <a:r>
                        <a:rPr sz="800"/>
                        <a:t>EW</a:t>
                      </a:r>
                    </a:p>
                  </a:txBody>
                  <a:tcPr/>
                </a:tc>
                <a:tc>
                  <a:txBody>
                    <a:bodyPr/>
                    <a:lstStyle/>
                    <a:p>
                      <a:r>
                        <a:rPr sz="800"/>
                        <a:t>1.68E+04</a:t>
                      </a:r>
                    </a:p>
                  </a:txBody>
                  <a:tcPr/>
                </a:tc>
                <a:tc>
                  <a:txBody>
                    <a:bodyPr/>
                    <a:lstStyle/>
                    <a:p>
                      <a:r>
                        <a:rPr sz="800"/>
                        <a:t>8.14E+08</a:t>
                      </a:r>
                    </a:p>
                  </a:txBody>
                  <a:tcPr/>
                </a:tc>
                <a:tc>
                  <a:txBody>
                    <a:bodyPr/>
                    <a:lstStyle/>
                    <a:p>
                      <a:r>
                        <a:rPr sz="800"/>
                        <a:t>6.36E+10</a:t>
                      </a:r>
                    </a:p>
                  </a:txBody>
                  <a:tcPr/>
                </a:tc>
                <a:tc>
                  <a:txBody>
                    <a:bodyPr/>
                    <a:lstStyle/>
                    <a:p>
                      <a:r>
                        <a:rPr sz="800"/>
                        <a:t>2.01E+08</a:t>
                      </a:r>
                    </a:p>
                  </a:txBody>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29.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Hydrovolcanic/Continuos ash emission andesitic,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Hydrovolcanic to long-lasting ash emission eruptions – andesitic magma: what is the average plume height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3.25E+02</a:t>
                      </a:r>
                    </a:p>
                  </a:txBody>
                  <a:tcPr/>
                </a:tc>
                <a:tc>
                  <a:txBody>
                    <a:bodyPr/>
                    <a:lstStyle/>
                    <a:p>
                      <a:r>
                        <a:rPr sz="800"/>
                        <a:t>3.95E+03</a:t>
                      </a:r>
                    </a:p>
                  </a:txBody>
                  <a:tcPr/>
                </a:tc>
                <a:tc>
                  <a:txBody>
                    <a:bodyPr/>
                    <a:lstStyle/>
                    <a:p>
                      <a:r>
                        <a:rPr sz="800"/>
                        <a:t>1.37E+04</a:t>
                      </a:r>
                    </a:p>
                  </a:txBody>
                  <a:tcPr/>
                </a:tc>
                <a:tc>
                  <a:txBody>
                    <a:bodyPr/>
                    <a:lstStyle/>
                    <a:p>
                      <a:r>
                        <a:rPr sz="800"/>
                        <a:t>3.29E+03</a:t>
                      </a:r>
                    </a:p>
                  </a:txBody>
                  <a:tcPr/>
                </a:tc>
              </a:tr>
              <a:tr h="1">
                <a:tc>
                  <a:txBody>
                    <a:bodyPr/>
                    <a:lstStyle/>
                    <a:p>
                      <a:r>
                        <a:rPr sz="800"/>
                        <a:t>EW</a:t>
                      </a:r>
                    </a:p>
                  </a:txBody>
                  <a:tcPr/>
                </a:tc>
                <a:tc>
                  <a:txBody>
                    <a:bodyPr/>
                    <a:lstStyle/>
                    <a:p>
                      <a:r>
                        <a:rPr sz="800"/>
                        <a:t>2.19E+02</a:t>
                      </a:r>
                    </a:p>
                  </a:txBody>
                  <a:tcPr/>
                </a:tc>
                <a:tc>
                  <a:txBody>
                    <a:bodyPr/>
                    <a:lstStyle/>
                    <a:p>
                      <a:r>
                        <a:rPr sz="800"/>
                        <a:t>3.01E+03</a:t>
                      </a:r>
                    </a:p>
                  </a:txBody>
                  <a:tcPr/>
                </a:tc>
                <a:tc>
                  <a:txBody>
                    <a:bodyPr/>
                    <a:lstStyle/>
                    <a:p>
                      <a:r>
                        <a:rPr sz="800"/>
                        <a:t>1.30E+04</a:t>
                      </a:r>
                    </a:p>
                  </a:txBody>
                  <a:tcPr/>
                </a:tc>
                <a:tc>
                  <a:txBody>
                    <a:bodyPr/>
                    <a:lstStyle/>
                    <a:p>
                      <a:r>
                        <a:rPr sz="800"/>
                        <a:t>2.68E+03</a:t>
                      </a:r>
                    </a:p>
                  </a:txBody>
                  <a:tcPr/>
                </a:tc>
              </a:tr>
            </a:tbl>
          </a:graphicData>
        </a:graphic>
      </p:graphicFrame>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0.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Violent Strombolian andesitic,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Violent Strombolian eruptions – andesitic magma: what is the mean duration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6.57E+00</a:t>
                      </a:r>
                    </a:p>
                  </a:txBody>
                  <a:tcPr/>
                </a:tc>
                <a:tc>
                  <a:txBody>
                    <a:bodyPr/>
                    <a:lstStyle/>
                    <a:p>
                      <a:r>
                        <a:rPr sz="800"/>
                        <a:t>4.36E+01</a:t>
                      </a:r>
                    </a:p>
                  </a:txBody>
                  <a:tcPr/>
                </a:tc>
                <a:tc>
                  <a:txBody>
                    <a:bodyPr/>
                    <a:lstStyle/>
                    <a:p>
                      <a:r>
                        <a:rPr sz="800"/>
                        <a:t>3.93E+03</a:t>
                      </a:r>
                    </a:p>
                  </a:txBody>
                  <a:tcPr/>
                </a:tc>
                <a:tc>
                  <a:txBody>
                    <a:bodyPr/>
                    <a:lstStyle/>
                    <a:p>
                      <a:r>
                        <a:rPr sz="800"/>
                        <a:t>6.65E+01</a:t>
                      </a:r>
                    </a:p>
                  </a:txBody>
                  <a:tcPr/>
                </a:tc>
              </a:tr>
              <a:tr h="1">
                <a:tc>
                  <a:txBody>
                    <a:bodyPr/>
                    <a:lstStyle/>
                    <a:p>
                      <a:r>
                        <a:rPr sz="800"/>
                        <a:t>EW</a:t>
                      </a:r>
                    </a:p>
                  </a:txBody>
                  <a:tcPr/>
                </a:tc>
                <a:tc>
                  <a:txBody>
                    <a:bodyPr/>
                    <a:lstStyle/>
                    <a:p>
                      <a:r>
                        <a:rPr sz="800"/>
                        <a:t>6.27E+00</a:t>
                      </a:r>
                    </a:p>
                  </a:txBody>
                  <a:tcPr/>
                </a:tc>
                <a:tc>
                  <a:txBody>
                    <a:bodyPr/>
                    <a:lstStyle/>
                    <a:p>
                      <a:r>
                        <a:rPr sz="800"/>
                        <a:t>4.56E+01</a:t>
                      </a:r>
                    </a:p>
                  </a:txBody>
                  <a:tcPr/>
                </a:tc>
                <a:tc>
                  <a:txBody>
                    <a:bodyPr/>
                    <a:lstStyle/>
                    <a:p>
                      <a:r>
                        <a:rPr sz="800"/>
                        <a:t>4.06E+03</a:t>
                      </a:r>
                    </a:p>
                  </a:txBody>
                  <a:tcPr/>
                </a:tc>
                <a:tc>
                  <a:txBody>
                    <a:bodyPr/>
                    <a:lstStyle/>
                    <a:p>
                      <a:r>
                        <a:rPr sz="800"/>
                        <a:t>7.33E+01</a:t>
                      </a:r>
                    </a:p>
                  </a:txBody>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1.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Violent Strombolian andesitic,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Violent Strombolian eruptions – andesitic magma: what is the total amount of mass of the tephra fallout deposits associated to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1.79E+07</a:t>
                      </a:r>
                    </a:p>
                  </a:txBody>
                  <a:tcPr/>
                </a:tc>
                <a:tc>
                  <a:txBody>
                    <a:bodyPr/>
                    <a:lstStyle/>
                    <a:p>
                      <a:r>
                        <a:rPr sz="800"/>
                        <a:t>5.88E+09</a:t>
                      </a:r>
                    </a:p>
                  </a:txBody>
                  <a:tcPr/>
                </a:tc>
                <a:tc>
                  <a:txBody>
                    <a:bodyPr/>
                    <a:lstStyle/>
                    <a:p>
                      <a:r>
                        <a:rPr sz="800"/>
                        <a:t>7.90E+10</a:t>
                      </a:r>
                    </a:p>
                  </a:txBody>
                  <a:tcPr/>
                </a:tc>
                <a:tc>
                  <a:txBody>
                    <a:bodyPr/>
                    <a:lstStyle/>
                    <a:p>
                      <a:r>
                        <a:rPr sz="800"/>
                        <a:t>3.55E+09</a:t>
                      </a:r>
                    </a:p>
                  </a:txBody>
                  <a:tcPr/>
                </a:tc>
              </a:tr>
              <a:tr h="1">
                <a:tc>
                  <a:txBody>
                    <a:bodyPr/>
                    <a:lstStyle/>
                    <a:p>
                      <a:r>
                        <a:rPr sz="800"/>
                        <a:t>EW</a:t>
                      </a:r>
                    </a:p>
                  </a:txBody>
                  <a:tcPr/>
                </a:tc>
                <a:tc>
                  <a:txBody>
                    <a:bodyPr/>
                    <a:lstStyle/>
                    <a:p>
                      <a:r>
                        <a:rPr sz="800"/>
                        <a:t>4.73E+06</a:t>
                      </a:r>
                    </a:p>
                  </a:txBody>
                  <a:tcPr/>
                </a:tc>
                <a:tc>
                  <a:txBody>
                    <a:bodyPr/>
                    <a:lstStyle/>
                    <a:p>
                      <a:r>
                        <a:rPr sz="800"/>
                        <a:t>9.32E+08</a:t>
                      </a:r>
                    </a:p>
                  </a:txBody>
                  <a:tcPr/>
                </a:tc>
                <a:tc>
                  <a:txBody>
                    <a:bodyPr/>
                    <a:lstStyle/>
                    <a:p>
                      <a:r>
                        <a:rPr sz="800"/>
                        <a:t>5.42E+10</a:t>
                      </a:r>
                    </a:p>
                  </a:txBody>
                  <a:tcPr/>
                </a:tc>
                <a:tc>
                  <a:txBody>
                    <a:bodyPr/>
                    <a:lstStyle/>
                    <a:p>
                      <a:r>
                        <a:rPr sz="800"/>
                        <a:t>8.37E+08</a:t>
                      </a:r>
                    </a:p>
                  </a:txBody>
                  <a:tcPr/>
                </a:tc>
              </a:tr>
            </a:tbl>
          </a:graphicData>
        </a:graphic>
      </p:graphicFrame>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2.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Violent Strombolian andesitic,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Violent Strombolian eruptions – andesitic magma: what is the average plume height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1.73E+03</a:t>
                      </a:r>
                    </a:p>
                  </a:txBody>
                  <a:tcPr/>
                </a:tc>
                <a:tc>
                  <a:txBody>
                    <a:bodyPr/>
                    <a:lstStyle/>
                    <a:p>
                      <a:r>
                        <a:rPr sz="800"/>
                        <a:t>8.34E+03</a:t>
                      </a:r>
                    </a:p>
                  </a:txBody>
                  <a:tcPr/>
                </a:tc>
                <a:tc>
                  <a:txBody>
                    <a:bodyPr/>
                    <a:lstStyle/>
                    <a:p>
                      <a:r>
                        <a:rPr sz="800"/>
                        <a:t>1.71E+04</a:t>
                      </a:r>
                    </a:p>
                  </a:txBody>
                  <a:tcPr/>
                </a:tc>
                <a:tc>
                  <a:txBody>
                    <a:bodyPr/>
                    <a:lstStyle/>
                    <a:p>
                      <a:r>
                        <a:rPr sz="800"/>
                        <a:t>7.30E+03</a:t>
                      </a:r>
                    </a:p>
                  </a:txBody>
                  <a:tcPr/>
                </a:tc>
              </a:tr>
              <a:tr h="1">
                <a:tc>
                  <a:txBody>
                    <a:bodyPr/>
                    <a:lstStyle/>
                    <a:p>
                      <a:r>
                        <a:rPr sz="800"/>
                        <a:t>EW</a:t>
                      </a:r>
                    </a:p>
                  </a:txBody>
                  <a:tcPr/>
                </a:tc>
                <a:tc>
                  <a:txBody>
                    <a:bodyPr/>
                    <a:lstStyle/>
                    <a:p>
                      <a:r>
                        <a:rPr sz="800"/>
                        <a:t>1.49E+03</a:t>
                      </a:r>
                    </a:p>
                  </a:txBody>
                  <a:tcPr/>
                </a:tc>
                <a:tc>
                  <a:txBody>
                    <a:bodyPr/>
                    <a:lstStyle/>
                    <a:p>
                      <a:r>
                        <a:rPr sz="800"/>
                        <a:t>9.57E+03</a:t>
                      </a:r>
                    </a:p>
                  </a:txBody>
                  <a:tcPr/>
                </a:tc>
                <a:tc>
                  <a:txBody>
                    <a:bodyPr/>
                    <a:lstStyle/>
                    <a:p>
                      <a:r>
                        <a:rPr sz="800"/>
                        <a:t>2.73E+04</a:t>
                      </a:r>
                    </a:p>
                  </a:txBody>
                  <a:tcPr/>
                </a:tc>
                <a:tc>
                  <a:txBody>
                    <a:bodyPr/>
                    <a:lstStyle/>
                    <a:p>
                      <a:r>
                        <a:rPr sz="800"/>
                        <a:t>8.15E+03</a:t>
                      </a:r>
                    </a:p>
                  </a:txBody>
                  <a:tcPr/>
                </a:tc>
              </a:tr>
            </a:tbl>
          </a:graphicData>
        </a:graphic>
      </p:graphicFrame>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3.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andesitic,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andesitic magma: what is the mean duration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9.32E+00</a:t>
                      </a:r>
                    </a:p>
                  </a:txBody>
                  <a:tcPr/>
                </a:tc>
                <a:tc>
                  <a:txBody>
                    <a:bodyPr/>
                    <a:lstStyle/>
                    <a:p>
                      <a:r>
                        <a:rPr sz="800"/>
                        <a:t>7.80E+01</a:t>
                      </a:r>
                    </a:p>
                  </a:txBody>
                  <a:tcPr/>
                </a:tc>
                <a:tc>
                  <a:txBody>
                    <a:bodyPr/>
                    <a:lstStyle/>
                    <a:p>
                      <a:r>
                        <a:rPr sz="800"/>
                        <a:t>9.51E+03</a:t>
                      </a:r>
                    </a:p>
                  </a:txBody>
                  <a:tcPr/>
                </a:tc>
                <a:tc>
                  <a:txBody>
                    <a:bodyPr/>
                    <a:lstStyle/>
                    <a:p>
                      <a:r>
                        <a:rPr sz="800"/>
                        <a:t>1.19E+02</a:t>
                      </a:r>
                    </a:p>
                  </a:txBody>
                  <a:tcPr/>
                </a:tc>
              </a:tr>
              <a:tr h="1">
                <a:tc>
                  <a:txBody>
                    <a:bodyPr/>
                    <a:lstStyle/>
                    <a:p>
                      <a:r>
                        <a:rPr sz="800"/>
                        <a:t>EW</a:t>
                      </a:r>
                    </a:p>
                  </a:txBody>
                  <a:tcPr/>
                </a:tc>
                <a:tc>
                  <a:txBody>
                    <a:bodyPr/>
                    <a:lstStyle/>
                    <a:p>
                      <a:r>
                        <a:rPr sz="800"/>
                        <a:t>8.47E+00</a:t>
                      </a:r>
                    </a:p>
                  </a:txBody>
                  <a:tcPr/>
                </a:tc>
                <a:tc>
                  <a:txBody>
                    <a:bodyPr/>
                    <a:lstStyle/>
                    <a:p>
                      <a:r>
                        <a:rPr sz="800"/>
                        <a:t>5.82E+01</a:t>
                      </a:r>
                    </a:p>
                  </a:txBody>
                  <a:tcPr/>
                </a:tc>
                <a:tc>
                  <a:txBody>
                    <a:bodyPr/>
                    <a:lstStyle/>
                    <a:p>
                      <a:r>
                        <a:rPr sz="800"/>
                        <a:t>4.93E+03</a:t>
                      </a:r>
                    </a:p>
                  </a:txBody>
                  <a:tcPr/>
                </a:tc>
                <a:tc>
                  <a:txBody>
                    <a:bodyPr/>
                    <a:lstStyle/>
                    <a:p>
                      <a:r>
                        <a:rPr sz="800"/>
                        <a:t>8.09E+01</a:t>
                      </a:r>
                    </a:p>
                  </a:txBody>
                  <a:tcPr/>
                </a:tc>
              </a:tr>
            </a:tbl>
          </a:graphicData>
        </a:graphic>
      </p:graphicFrame>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4.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andesitic,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andesitic magma: what is the total amount of mass of the tephra fallout deposits associated to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1.31E+09</a:t>
                      </a:r>
                    </a:p>
                  </a:txBody>
                  <a:tcPr/>
                </a:tc>
                <a:tc>
                  <a:txBody>
                    <a:bodyPr/>
                    <a:lstStyle/>
                    <a:p>
                      <a:r>
                        <a:rPr sz="800"/>
                        <a:t>3.26E+10</a:t>
                      </a:r>
                    </a:p>
                  </a:txBody>
                  <a:tcPr/>
                </a:tc>
                <a:tc>
                  <a:txBody>
                    <a:bodyPr/>
                    <a:lstStyle/>
                    <a:p>
                      <a:r>
                        <a:rPr sz="800"/>
                        <a:t>3.96E+11</a:t>
                      </a:r>
                    </a:p>
                  </a:txBody>
                  <a:tcPr/>
                </a:tc>
                <a:tc>
                  <a:txBody>
                    <a:bodyPr/>
                    <a:lstStyle/>
                    <a:p>
                      <a:r>
                        <a:rPr sz="800"/>
                        <a:t>2.75E+10</a:t>
                      </a:r>
                    </a:p>
                  </a:txBody>
                  <a:tcPr/>
                </a:tc>
              </a:tr>
              <a:tr h="1">
                <a:tc>
                  <a:txBody>
                    <a:bodyPr/>
                    <a:lstStyle/>
                    <a:p>
                      <a:r>
                        <a:rPr sz="800"/>
                        <a:t>EW</a:t>
                      </a:r>
                    </a:p>
                  </a:txBody>
                  <a:tcPr/>
                </a:tc>
                <a:tc>
                  <a:txBody>
                    <a:bodyPr/>
                    <a:lstStyle/>
                    <a:p>
                      <a:r>
                        <a:rPr sz="800"/>
                        <a:t>3.99E+07</a:t>
                      </a:r>
                    </a:p>
                  </a:txBody>
                  <a:tcPr/>
                </a:tc>
                <a:tc>
                  <a:txBody>
                    <a:bodyPr/>
                    <a:lstStyle/>
                    <a:p>
                      <a:r>
                        <a:rPr sz="800"/>
                        <a:t>1.83E+10</a:t>
                      </a:r>
                    </a:p>
                  </a:txBody>
                  <a:tcPr/>
                </a:tc>
                <a:tc>
                  <a:txBody>
                    <a:bodyPr/>
                    <a:lstStyle/>
                    <a:p>
                      <a:r>
                        <a:rPr sz="800"/>
                        <a:t>3.08E+11</a:t>
                      </a:r>
                    </a:p>
                  </a:txBody>
                  <a:tcPr/>
                </a:tc>
                <a:tc>
                  <a:txBody>
                    <a:bodyPr/>
                    <a:lstStyle/>
                    <a:p>
                      <a:r>
                        <a:rPr sz="800"/>
                        <a:t>1.04E+10</a:t>
                      </a:r>
                    </a:p>
                  </a:txBody>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5.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SubPlinian andesitic,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Subplinian eruptions – andesitic magma: what is the average plume height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6.78E+03</a:t>
                      </a:r>
                    </a:p>
                  </a:txBody>
                  <a:tcPr/>
                </a:tc>
                <a:tc>
                  <a:txBody>
                    <a:bodyPr/>
                    <a:lstStyle/>
                    <a:p>
                      <a:r>
                        <a:rPr sz="800"/>
                        <a:t>1.81E+04</a:t>
                      </a:r>
                    </a:p>
                  </a:txBody>
                  <a:tcPr/>
                </a:tc>
                <a:tc>
                  <a:txBody>
                    <a:bodyPr/>
                    <a:lstStyle/>
                    <a:p>
                      <a:r>
                        <a:rPr sz="800"/>
                        <a:t>2.53E+04</a:t>
                      </a:r>
                    </a:p>
                  </a:txBody>
                  <a:tcPr/>
                </a:tc>
                <a:tc>
                  <a:txBody>
                    <a:bodyPr/>
                    <a:lstStyle/>
                    <a:p>
                      <a:r>
                        <a:rPr sz="800"/>
                        <a:t>1.63E+04</a:t>
                      </a:r>
                    </a:p>
                  </a:txBody>
                  <a:tcPr/>
                </a:tc>
              </a:tr>
              <a:tr h="1">
                <a:tc>
                  <a:txBody>
                    <a:bodyPr/>
                    <a:lstStyle/>
                    <a:p>
                      <a:r>
                        <a:rPr sz="800"/>
                        <a:t>EW</a:t>
                      </a:r>
                    </a:p>
                  </a:txBody>
                  <a:tcPr/>
                </a:tc>
                <a:tc>
                  <a:txBody>
                    <a:bodyPr/>
                    <a:lstStyle/>
                    <a:p>
                      <a:r>
                        <a:rPr sz="800"/>
                        <a:t>7.30E+03</a:t>
                      </a:r>
                    </a:p>
                  </a:txBody>
                  <a:tcPr/>
                </a:tc>
                <a:tc>
                  <a:txBody>
                    <a:bodyPr/>
                    <a:lstStyle/>
                    <a:p>
                      <a:r>
                        <a:rPr sz="800"/>
                        <a:t>1.92E+04</a:t>
                      </a:r>
                    </a:p>
                  </a:txBody>
                  <a:tcPr/>
                </a:tc>
                <a:tc>
                  <a:txBody>
                    <a:bodyPr/>
                    <a:lstStyle/>
                    <a:p>
                      <a:r>
                        <a:rPr sz="800"/>
                        <a:t>2.79E+04</a:t>
                      </a:r>
                    </a:p>
                  </a:txBody>
                  <a:tcPr/>
                </a:tc>
                <a:tc>
                  <a:txBody>
                    <a:bodyPr/>
                    <a:lstStyle/>
                    <a:p>
                      <a:r>
                        <a:rPr sz="800"/>
                        <a:t>1.74E+04</a:t>
                      </a:r>
                    </a:p>
                  </a:txBody>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6.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andesitic, duration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andesitic magma: what is the mean duration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1.20E+01</a:t>
                      </a:r>
                    </a:p>
                  </a:txBody>
                  <a:tcPr/>
                </a:tc>
                <a:tc>
                  <a:txBody>
                    <a:bodyPr/>
                    <a:lstStyle/>
                    <a:p>
                      <a:r>
                        <a:rPr sz="800"/>
                        <a:t>1.73E+02</a:t>
                      </a:r>
                    </a:p>
                  </a:txBody>
                  <a:tcPr/>
                </a:tc>
                <a:tc>
                  <a:txBody>
                    <a:bodyPr/>
                    <a:lstStyle/>
                    <a:p>
                      <a:r>
                        <a:rPr sz="800"/>
                        <a:t>1.88E+04</a:t>
                      </a:r>
                    </a:p>
                  </a:txBody>
                  <a:tcPr/>
                </a:tc>
                <a:tc>
                  <a:txBody>
                    <a:bodyPr/>
                    <a:lstStyle/>
                    <a:p>
                      <a:r>
                        <a:rPr sz="800"/>
                        <a:t>2.34E+02</a:t>
                      </a:r>
                    </a:p>
                  </a:txBody>
                  <a:tcPr/>
                </a:tc>
              </a:tr>
              <a:tr h="1">
                <a:tc>
                  <a:txBody>
                    <a:bodyPr/>
                    <a:lstStyle/>
                    <a:p>
                      <a:r>
                        <a:rPr sz="800"/>
                        <a:t>EW</a:t>
                      </a:r>
                    </a:p>
                  </a:txBody>
                  <a:tcPr/>
                </a:tc>
                <a:tc>
                  <a:txBody>
                    <a:bodyPr/>
                    <a:lstStyle/>
                    <a:p>
                      <a:r>
                        <a:rPr sz="800"/>
                        <a:t>1.26E+01</a:t>
                      </a:r>
                    </a:p>
                  </a:txBody>
                  <a:tcPr/>
                </a:tc>
                <a:tc>
                  <a:txBody>
                    <a:bodyPr/>
                    <a:lstStyle/>
                    <a:p>
                      <a:r>
                        <a:rPr sz="800"/>
                        <a:t>1.55E+02</a:t>
                      </a:r>
                    </a:p>
                  </a:txBody>
                  <a:tcPr/>
                </a:tc>
                <a:tc>
                  <a:txBody>
                    <a:bodyPr/>
                    <a:lstStyle/>
                    <a:p>
                      <a:r>
                        <a:rPr sz="800"/>
                        <a:t>1.32E+04</a:t>
                      </a:r>
                    </a:p>
                  </a:txBody>
                  <a:tcPr/>
                </a:tc>
                <a:tc>
                  <a:txBody>
                    <a:bodyPr/>
                    <a:lstStyle/>
                    <a:p>
                      <a:r>
                        <a:rPr sz="800"/>
                        <a:t>1.88E+02</a:t>
                      </a:r>
                    </a:p>
                  </a:txBody>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7.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andesitic, total mass fallout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andesitic magma: what is the total amount of mass of the tephra fallout deposits associated to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1.40E+10</a:t>
                      </a:r>
                    </a:p>
                  </a:txBody>
                  <a:tcPr/>
                </a:tc>
                <a:tc>
                  <a:txBody>
                    <a:bodyPr/>
                    <a:lstStyle/>
                    <a:p>
                      <a:r>
                        <a:rPr sz="800"/>
                        <a:t>2.48E+11</a:t>
                      </a:r>
                    </a:p>
                  </a:txBody>
                  <a:tcPr/>
                </a:tc>
                <a:tc>
                  <a:txBody>
                    <a:bodyPr/>
                    <a:lstStyle/>
                    <a:p>
                      <a:r>
                        <a:rPr sz="800"/>
                        <a:t>2.90E+12</a:t>
                      </a:r>
                    </a:p>
                  </a:txBody>
                  <a:tcPr/>
                </a:tc>
                <a:tc>
                  <a:txBody>
                    <a:bodyPr/>
                    <a:lstStyle/>
                    <a:p>
                      <a:r>
                        <a:rPr sz="800"/>
                        <a:t>2.47E+11</a:t>
                      </a:r>
                    </a:p>
                  </a:txBody>
                  <a:tcPr/>
                </a:tc>
              </a:tr>
              <a:tr h="1">
                <a:tc>
                  <a:txBody>
                    <a:bodyPr/>
                    <a:lstStyle/>
                    <a:p>
                      <a:r>
                        <a:rPr sz="800"/>
                        <a:t>EW</a:t>
                      </a:r>
                    </a:p>
                  </a:txBody>
                  <a:tcPr/>
                </a:tc>
                <a:tc>
                  <a:txBody>
                    <a:bodyPr/>
                    <a:lstStyle/>
                    <a:p>
                      <a:r>
                        <a:rPr sz="800"/>
                        <a:t>4.06E+07</a:t>
                      </a:r>
                    </a:p>
                  </a:txBody>
                  <a:tcPr/>
                </a:tc>
                <a:tc>
                  <a:txBody>
                    <a:bodyPr/>
                    <a:lstStyle/>
                    <a:p>
                      <a:r>
                        <a:rPr sz="800"/>
                        <a:t>2.75E+11</a:t>
                      </a:r>
                    </a:p>
                  </a:txBody>
                  <a:tcPr/>
                </a:tc>
                <a:tc>
                  <a:txBody>
                    <a:bodyPr/>
                    <a:lstStyle/>
                    <a:p>
                      <a:r>
                        <a:rPr sz="800"/>
                        <a:t>9.83E+12</a:t>
                      </a:r>
                    </a:p>
                  </a:txBody>
                  <a:tcPr/>
                </a:tc>
                <a:tc>
                  <a:txBody>
                    <a:bodyPr/>
                    <a:lstStyle/>
                    <a:p>
                      <a:r>
                        <a:rPr sz="800"/>
                        <a:t>1.69E+11</a:t>
                      </a:r>
                    </a:p>
                  </a:txBody>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Cotopaxi_combined_38.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Plinian andesitic, average plume height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Plinian eruptions – andesitic magma: what is the average plume height of this kind of eruption?</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1.30E+04</a:t>
                      </a:r>
                    </a:p>
                  </a:txBody>
                  <a:tcPr/>
                </a:tc>
                <a:tc>
                  <a:txBody>
                    <a:bodyPr/>
                    <a:lstStyle/>
                    <a:p>
                      <a:r>
                        <a:rPr sz="800"/>
                        <a:t>2.54E+04</a:t>
                      </a:r>
                    </a:p>
                  </a:txBody>
                  <a:tcPr/>
                </a:tc>
                <a:tc>
                  <a:txBody>
                    <a:bodyPr/>
                    <a:lstStyle/>
                    <a:p>
                      <a:r>
                        <a:rPr sz="800"/>
                        <a:t>3.49E+04</a:t>
                      </a:r>
                    </a:p>
                  </a:txBody>
                  <a:tcPr/>
                </a:tc>
                <a:tc>
                  <a:txBody>
                    <a:bodyPr/>
                    <a:lstStyle/>
                    <a:p>
                      <a:r>
                        <a:rPr sz="800"/>
                        <a:t>2.42E+04</a:t>
                      </a:r>
                    </a:p>
                  </a:txBody>
                  <a:tcPr/>
                </a:tc>
              </a:tr>
              <a:tr h="1">
                <a:tc>
                  <a:txBody>
                    <a:bodyPr/>
                    <a:lstStyle/>
                    <a:p>
                      <a:r>
                        <a:rPr sz="800"/>
                        <a:t>EW</a:t>
                      </a:r>
                    </a:p>
                  </a:txBody>
                  <a:tcPr/>
                </a:tc>
                <a:tc>
                  <a:txBody>
                    <a:bodyPr/>
                    <a:lstStyle/>
                    <a:p>
                      <a:r>
                        <a:rPr sz="800"/>
                        <a:t>1.32E+04</a:t>
                      </a:r>
                    </a:p>
                  </a:txBody>
                  <a:tcPr/>
                </a:tc>
                <a:tc>
                  <a:txBody>
                    <a:bodyPr/>
                    <a:lstStyle/>
                    <a:p>
                      <a:r>
                        <a:rPr sz="800"/>
                        <a:t>2.59E+04</a:t>
                      </a:r>
                    </a:p>
                  </a:txBody>
                  <a:tcPr/>
                </a:tc>
                <a:tc>
                  <a:txBody>
                    <a:bodyPr/>
                    <a:lstStyle/>
                    <a:p>
                      <a:r>
                        <a:rPr sz="800"/>
                        <a:t>3.67E+04</a:t>
                      </a:r>
                    </a:p>
                  </a:txBody>
                  <a:tcPr/>
                </a:tc>
                <a:tc>
                  <a:txBody>
                    <a:bodyPr/>
                    <a:lstStyle/>
                    <a:p>
                      <a:r>
                        <a:rPr sz="800"/>
                        <a:t>2.47E+04</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