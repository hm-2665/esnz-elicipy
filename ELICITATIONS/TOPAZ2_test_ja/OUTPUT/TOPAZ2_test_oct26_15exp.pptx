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latin typeface="Helvetica"/>
              </a:defRPr>
            </a:pPr>
            <a:r>
              <a:t>Expert elicitation - TOPAZ2_test_oct26_15exp</a:t>
            </a:r>
          </a:p>
        </p:txBody>
      </p:sp>
      <p:sp>
        <p:nvSpPr>
          <p:cNvPr id="3" name="Subtitle 2"/>
          <p:cNvSpPr>
            <a:spLocks noGrp="1"/>
          </p:cNvSpPr>
          <p:nvPr>
            <p:ph type="subTitle" idx="1"/>
          </p:nvPr>
        </p:nvSpPr>
        <p:spPr/>
        <p:txBody>
          <a:bodyPr/>
          <a:lstStyle/>
          <a:p>
            <a:pPr>
              <a:defRPr>
                <a:latin typeface="Helvetica"/>
              </a:defRPr>
            </a:pPr>
            <a:r>
              <a:t>27-Oct-2026</a:t>
            </a:r>
          </a:p>
        </p:txBody>
      </p:sp>
      <p:pic>
        <p:nvPicPr>
          <p:cNvPr id="4" name="Picture 3" descr="logo.png"/>
          <p:cNvPicPr>
            <a:picLocks noChangeAspect="1"/>
          </p:cNvPicPr>
          <p:nvPr/>
        </p:nvPicPr>
        <p:blipFill>
          <a:blip r:embed="rId2"/>
          <a:stretch>
            <a:fillRect/>
          </a:stretch>
        </p:blipFill>
        <p:spPr>
          <a:xfrm>
            <a:off x="12161520" y="6309360"/>
            <a:ext cx="2194560" cy="16949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Experts' weights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Experts' weights</a:t>
            </a:r>
          </a:p>
        </p:txBody>
      </p:sp>
      <p:graphicFrame>
        <p:nvGraphicFramePr>
          <p:cNvPr id="3" name="Table 2"/>
          <p:cNvGraphicFramePr>
            <a:graphicFrameLocks noGrp="1"/>
          </p:cNvGraphicFramePr>
          <p:nvPr/>
        </p:nvGraphicFramePr>
        <p:xfrm>
          <a:off x="1828800" y="1554480"/>
          <a:ext cx="7315200" cy="SHAPE_TO_FIT_TEXT (1)"/>
        </p:xfrm>
        <a:graphic>
          <a:graphicData uri="http://schemas.openxmlformats.org/drawingml/2006/table">
            <a:tbl>
              <a:tblPr firstRow="1" bandRow="1">
                <a:tableStyleId>{5C22544A-7EE6-4342-B048-85BDC9FD1C3A}</a:tableStyleId>
              </a:tblPr>
              <a:tblGrid>
                <a:gridCol w="3657600"/>
                <a:gridCol w="3657600"/>
              </a:tblGrid>
              <a:tr h="0">
                <a:tc>
                  <a:txBody>
                    <a:bodyPr/>
                    <a:lstStyle/>
                    <a:p>
                      <a:r>
                        <a:rPr sz="1200"/>
                        <a:t>Expert ID</a:t>
                      </a:r>
                    </a:p>
                  </a:txBody>
                  <a:tcPr/>
                </a:tc>
                <a:tc>
                  <a:txBody>
                    <a:bodyPr/>
                    <a:lstStyle/>
                    <a:p>
                      <a:r>
                        <a:rPr sz="1200"/>
                        <a:t>Cooke</a:t>
                      </a:r>
                    </a:p>
                  </a:txBody>
                  <a:tcPr/>
                </a:tc>
              </a:tr>
              <a:tr h="0">
                <a:tc>
                  <a:txBody>
                    <a:bodyPr/>
                    <a:lstStyle/>
                    <a:p>
                      <a:r>
                        <a:rPr sz="1200"/>
                        <a:t>Exp1</a:t>
                      </a:r>
                    </a:p>
                  </a:txBody>
                  <a:tcPr/>
                </a:tc>
                <a:tc>
                  <a:txBody>
                    <a:bodyPr/>
                    <a:lstStyle/>
                    <a:p>
                      <a:r>
                        <a:rPr sz="1200"/>
                        <a:t>Below threshold</a:t>
                      </a:r>
                    </a:p>
                  </a:txBody>
                  <a:tcPr/>
                </a:tc>
              </a:tr>
              <a:tr h="0">
                <a:tc>
                  <a:txBody>
                    <a:bodyPr/>
                    <a:lstStyle/>
                    <a:p>
                      <a:r>
                        <a:rPr sz="1200"/>
                        <a:t>Exp2</a:t>
                      </a:r>
                    </a:p>
                  </a:txBody>
                  <a:tcPr/>
                </a:tc>
                <a:tc>
                  <a:txBody>
                    <a:bodyPr/>
                    <a:lstStyle/>
                    <a:p>
                      <a:r>
                        <a:rPr sz="1200"/>
                        <a:t> 14.67</a:t>
                      </a:r>
                    </a:p>
                  </a:txBody>
                  <a:tcPr/>
                </a:tc>
              </a:tr>
              <a:tr h="0">
                <a:tc>
                  <a:txBody>
                    <a:bodyPr/>
                    <a:lstStyle/>
                    <a:p>
                      <a:r>
                        <a:rPr sz="1200"/>
                        <a:t>Exp3</a:t>
                      </a:r>
                    </a:p>
                  </a:txBody>
                  <a:tcPr/>
                </a:tc>
                <a:tc>
                  <a:txBody>
                    <a:bodyPr/>
                    <a:lstStyle/>
                    <a:p>
                      <a:r>
                        <a:rPr sz="1200"/>
                        <a:t>  6.46</a:t>
                      </a:r>
                    </a:p>
                  </a:txBody>
                  <a:tcPr/>
                </a:tc>
              </a:tr>
              <a:tr h="0">
                <a:tc>
                  <a:txBody>
                    <a:bodyPr/>
                    <a:lstStyle/>
                    <a:p>
                      <a:r>
                        <a:rPr sz="1200"/>
                        <a:t>Exp4</a:t>
                      </a:r>
                    </a:p>
                  </a:txBody>
                  <a:tcPr/>
                </a:tc>
                <a:tc>
                  <a:txBody>
                    <a:bodyPr/>
                    <a:lstStyle/>
                    <a:p>
                      <a:r>
                        <a:rPr sz="1200"/>
                        <a:t>  7.08</a:t>
                      </a:r>
                    </a:p>
                  </a:txBody>
                  <a:tcPr/>
                </a:tc>
              </a:tr>
              <a:tr h="0">
                <a:tc>
                  <a:txBody>
                    <a:bodyPr/>
                    <a:lstStyle/>
                    <a:p>
                      <a:r>
                        <a:rPr sz="1200"/>
                        <a:t>Exp5</a:t>
                      </a:r>
                    </a:p>
                  </a:txBody>
                  <a:tcPr/>
                </a:tc>
                <a:tc>
                  <a:txBody>
                    <a:bodyPr/>
                    <a:lstStyle/>
                    <a:p>
                      <a:r>
                        <a:rPr sz="1200"/>
                        <a:t>  6.46</a:t>
                      </a:r>
                    </a:p>
                  </a:txBody>
                  <a:tcPr/>
                </a:tc>
              </a:tr>
              <a:tr h="0">
                <a:tc>
                  <a:txBody>
                    <a:bodyPr/>
                    <a:lstStyle/>
                    <a:p>
                      <a:r>
                        <a:rPr sz="1200"/>
                        <a:t>Exp6</a:t>
                      </a:r>
                    </a:p>
                  </a:txBody>
                  <a:tcPr/>
                </a:tc>
                <a:tc>
                  <a:txBody>
                    <a:bodyPr/>
                    <a:lstStyle/>
                    <a:p>
                      <a:r>
                        <a:rPr sz="1200"/>
                        <a:t>Below threshold</a:t>
                      </a:r>
                    </a:p>
                  </a:txBody>
                  <a:tcPr/>
                </a:tc>
              </a:tr>
              <a:tr h="0">
                <a:tc>
                  <a:txBody>
                    <a:bodyPr/>
                    <a:lstStyle/>
                    <a:p>
                      <a:r>
                        <a:rPr sz="1200"/>
                        <a:t>Exp7</a:t>
                      </a:r>
                    </a:p>
                  </a:txBody>
                  <a:tcPr/>
                </a:tc>
                <a:tc>
                  <a:txBody>
                    <a:bodyPr/>
                    <a:lstStyle/>
                    <a:p>
                      <a:r>
                        <a:rPr sz="1200"/>
                        <a:t>Below threshold</a:t>
                      </a:r>
                    </a:p>
                  </a:txBody>
                  <a:tcPr/>
                </a:tc>
              </a:tr>
              <a:tr h="0">
                <a:tc>
                  <a:txBody>
                    <a:bodyPr/>
                    <a:lstStyle/>
                    <a:p>
                      <a:r>
                        <a:rPr sz="1200"/>
                        <a:t>Exp8</a:t>
                      </a:r>
                    </a:p>
                  </a:txBody>
                  <a:tcPr/>
                </a:tc>
                <a:tc>
                  <a:txBody>
                    <a:bodyPr/>
                    <a:lstStyle/>
                    <a:p>
                      <a:r>
                        <a:rPr sz="1200"/>
                        <a:t>Below threshold</a:t>
                      </a:r>
                    </a:p>
                  </a:txBody>
                  <a:tcPr/>
                </a:tc>
              </a:tr>
              <a:tr h="0">
                <a:tc>
                  <a:txBody>
                    <a:bodyPr/>
                    <a:lstStyle/>
                    <a:p>
                      <a:r>
                        <a:rPr sz="1200"/>
                        <a:t>Exp9</a:t>
                      </a:r>
                    </a:p>
                  </a:txBody>
                  <a:tcPr/>
                </a:tc>
                <a:tc>
                  <a:txBody>
                    <a:bodyPr/>
                    <a:lstStyle/>
                    <a:p>
                      <a:r>
                        <a:rPr sz="1200"/>
                        <a:t>  2.73</a:t>
                      </a:r>
                    </a:p>
                  </a:txBody>
                  <a:tcPr/>
                </a:tc>
              </a:tr>
              <a:tr h="0">
                <a:tc>
                  <a:txBody>
                    <a:bodyPr/>
                    <a:lstStyle/>
                    <a:p>
                      <a:r>
                        <a:rPr sz="1200"/>
                        <a:t>Exp10</a:t>
                      </a:r>
                    </a:p>
                  </a:txBody>
                  <a:tcPr/>
                </a:tc>
                <a:tc>
                  <a:txBody>
                    <a:bodyPr/>
                    <a:lstStyle/>
                    <a:p>
                      <a:r>
                        <a:rPr sz="1200"/>
                        <a:t>  4.53</a:t>
                      </a:r>
                    </a:p>
                  </a:txBody>
                  <a:tcPr/>
                </a:tc>
              </a:tr>
              <a:tr h="0">
                <a:tc>
                  <a:txBody>
                    <a:bodyPr/>
                    <a:lstStyle/>
                    <a:p>
                      <a:r>
                        <a:rPr sz="1200"/>
                        <a:t>Exp11</a:t>
                      </a:r>
                    </a:p>
                  </a:txBody>
                  <a:tcPr/>
                </a:tc>
                <a:tc>
                  <a:txBody>
                    <a:bodyPr/>
                    <a:lstStyle/>
                    <a:p>
                      <a:r>
                        <a:rPr sz="1200"/>
                        <a:t>  7.09</a:t>
                      </a:r>
                    </a:p>
                  </a:txBody>
                  <a:tcPr/>
                </a:tc>
              </a:tr>
              <a:tr h="0">
                <a:tc>
                  <a:txBody>
                    <a:bodyPr/>
                    <a:lstStyle/>
                    <a:p>
                      <a:r>
                        <a:rPr sz="1200"/>
                        <a:t>Exp12</a:t>
                      </a:r>
                    </a:p>
                  </a:txBody>
                  <a:tcPr/>
                </a:tc>
                <a:tc>
                  <a:txBody>
                    <a:bodyPr/>
                    <a:lstStyle/>
                    <a:p>
                      <a:r>
                        <a:rPr sz="1200"/>
                        <a:t>  8.63</a:t>
                      </a:r>
                    </a:p>
                  </a:txBody>
                  <a:tcPr/>
                </a:tc>
              </a:tr>
              <a:tr h="0">
                <a:tc>
                  <a:txBody>
                    <a:bodyPr/>
                    <a:lstStyle/>
                    <a:p>
                      <a:r>
                        <a:rPr sz="1200"/>
                        <a:t>Exp13</a:t>
                      </a:r>
                    </a:p>
                  </a:txBody>
                  <a:tcPr/>
                </a:tc>
                <a:tc>
                  <a:txBody>
                    <a:bodyPr/>
                    <a:lstStyle/>
                    <a:p>
                      <a:r>
                        <a:rPr sz="1200"/>
                        <a:t> 19.76</a:t>
                      </a:r>
                    </a:p>
                  </a:txBody>
                  <a:tcPr/>
                </a:tc>
              </a:tr>
              <a:tr h="0">
                <a:tc>
                  <a:txBody>
                    <a:bodyPr/>
                    <a:lstStyle/>
                    <a:p>
                      <a:r>
                        <a:rPr sz="1200"/>
                        <a:t>Exp14</a:t>
                      </a:r>
                    </a:p>
                  </a:txBody>
                  <a:tcPr/>
                </a:tc>
                <a:tc>
                  <a:txBody>
                    <a:bodyPr/>
                    <a:lstStyle/>
                    <a:p>
                      <a:r>
                        <a:rPr sz="1200"/>
                        <a:t> 14.67</a:t>
                      </a:r>
                    </a:p>
                  </a:txBody>
                  <a:tcPr/>
                </a:tc>
              </a:tr>
              <a:tr h="1">
                <a:tc>
                  <a:txBody>
                    <a:bodyPr/>
                    <a:lstStyle/>
                    <a:p>
                      <a:r>
                        <a:rPr sz="1200"/>
                        <a:t>Exp15</a:t>
                      </a:r>
                    </a:p>
                  </a:txBody>
                  <a:tcPr/>
                </a:tc>
                <a:tc>
                  <a:txBody>
                    <a:bodyPr/>
                    <a:lstStyle/>
                    <a:p>
                      <a:r>
                        <a:rPr sz="1200"/>
                        <a:t>  7.91</a:t>
                      </a:r>
                    </a:p>
                  </a:txBody>
                  <a:tcPr/>
                </a:tc>
              </a:tr>
            </a:tbl>
          </a:graphicData>
        </a:graphic>
      </p:graphicFrame>
      <p:sp>
        <p:nvSpPr>
          <p:cNvPr id="4" name="TextBox 3"/>
          <p:cNvSpPr txBox="1"/>
          <p:nvPr/>
        </p:nvSpPr>
        <p:spPr>
          <a:xfrm>
            <a:off x="10058400" y="2286000"/>
            <a:ext cx="3657600" cy="4572000"/>
          </a:xfrm>
          <a:prstGeom prst="rect">
            <a:avLst/>
          </a:prstGeom>
          <a:noFill/>
        </p:spPr>
        <p:txBody>
          <a:bodyPr wrap="square">
            <a:spAutoFit/>
          </a:bodyPr>
          <a:lstStyle/>
          <a:p>
            <a:pPr>
              <a:defRPr sz="1800"/>
            </a:pPr>
            <a:r>
              <a:t>Equal weight = 6.67</a:t>
            </a:r>
          </a:p>
        </p:txBody>
      </p:sp>
      <p:sp>
        <p:nvSpPr>
          <p:cNvPr id="5" name="TextBox 4"/>
          <p:cNvSpPr txBox="1"/>
          <p:nvPr/>
        </p:nvSpPr>
        <p:spPr>
          <a:xfrm>
            <a:off x="10058400" y="3200400"/>
            <a:ext cx="3657600" cy="4572000"/>
          </a:xfrm>
          <a:prstGeom prst="rect">
            <a:avLst/>
          </a:prstGeom>
          <a:noFill/>
        </p:spPr>
        <p:txBody>
          <a:bodyPr wrap="square">
            <a:spAutoFit/>
          </a:bodyPr>
          <a:lstStyle/>
          <a:p>
            <a:pPr>
              <a:defRPr sz="1800"/>
            </a:pPr>
            <a:r>
              <a:t>For Cookes' method, below threshold weight does not mean zero score. It simply means that this expert's knowledge was already contributed by other experts and adding this expert would not change significantly the results.</a:t>
            </a:r>
          </a:p>
        </p:txBody>
      </p:sp>
      <p:sp>
        <p:nvSpPr>
          <p:cNvPr id="6" name="Rectangle 5"/>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7" name="Picture 6"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Seed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Major active faults in Japan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In its 1997 report, The Promotion of Earthquake Research: Basic Comprehensive Policy for the Promotion of Earthquake Observation, Measurement, Surveys and Research, the Japanese Government defined “major active faults” by total length of 20 km or longer and displacement rate 0.1 m/ka or greater, i.e., faults capable of generating events M7 or greater. How many major active faults were identified?</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 Japan regional strain rate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Historical and modern geodetic observations spanning 1894-2009 were analysed to assess the steadiness of strain rates across northeast Japan over a century; upper and lower rate estimates were given. Based on those two rates, what would be the average maximum shear strain rate estimated for the interseismic period (1894-2009), in nanostrain/yr?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2011 Tohoku earthquake coseismic subsidence </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was the maximum magnitude of coseismic subsidence recorded by the GNSS/GEONET network along the Pacific coast during the 2011 Tohoku-oki earthquake, in cm?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Slip rate revision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Previous geologic studies suggest an upper Late-Quaternary slip rate of 0.3 mm/yr for the southern Eastern Fault Zone of Yokote Basin (EFZYB) in the Ou Backbone Range. What is the revised upper slip rate for the southern EFZYB estimated from recent borehole and seismic reflection studies of the Higashi Chokai-san fault, in mm/yr? [Source: Shyu et al., 2024]</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Uplift rate – upper endpoint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For the Shizunai area on the Hidaka coast of southern Hokkaido, a range of long-term late-Quaternary uplift rates was estimated from adjusted relative sea-level elevations of MIS 5e marine terraces (130–116 ka), with peak sea level at approximately 124 ka. The lower endpoint of the reported range is 0.25 mm/yr. What is the corresponding upper endpoint, in mm/yr? [Nakanishi &amp; Ashi, 2022]</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Deformation budget fraction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According to Kato et al. (2004), using the long-term whole-system shortening estimate adopted from Ito (2002) and the Amurian–Okhotsk convergence rate from the plate-motion model used in that study, what fraction of regional plate convergence was inferred to be accommodated by shortening across the entire Hidaka thrust system in central Hokkaido? Express your quantiles as decimal fractions.</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789"/>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635"/>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3"/>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1"/>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Percentiles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1</a:t>
                      </a:r>
                    </a:p>
                  </a:txBody>
                  <a:tcPr/>
                </a:tc>
                <a:tc>
                  <a:txBody>
                    <a:bodyPr/>
                    <a:lstStyle/>
                    <a:p>
                      <a:r>
                        <a:rPr sz="1400"/>
                        <a:t>2.32E+01</a:t>
                      </a:r>
                    </a:p>
                  </a:txBody>
                  <a:tcPr/>
                </a:tc>
                <a:tc>
                  <a:txBody>
                    <a:bodyPr/>
                    <a:lstStyle/>
                    <a:p>
                      <a:r>
                        <a:rPr sz="1400"/>
                        <a:t>9.23E+02</a:t>
                      </a:r>
                    </a:p>
                  </a:txBody>
                  <a:tcPr/>
                </a:tc>
                <a:tc>
                  <a:txBody>
                    <a:bodyPr/>
                    <a:lstStyle/>
                    <a:p>
                      <a:r>
                        <a:rPr sz="1400"/>
                        <a:t>1.24E+04</a:t>
                      </a:r>
                    </a:p>
                  </a:txBody>
                  <a:tcPr/>
                </a:tc>
                <a:tc>
                  <a:txBody>
                    <a:bodyPr/>
                    <a:lstStyle/>
                    <a:p>
                      <a:r>
                        <a:rPr sz="1400"/>
                        <a:t>8.41E+02</a:t>
                      </a:r>
                    </a:p>
                  </a:txBody>
                  <a:tcPr/>
                </a:tc>
                <a:tc>
                  <a:txBody>
                    <a:bodyPr/>
                    <a:lstStyle/>
                    <a:p>
                      <a:r>
                        <a:rPr sz="1400"/>
                        <a:t>1.91E+01</a:t>
                      </a:r>
                    </a:p>
                  </a:txBody>
                  <a:tcPr/>
                </a:tc>
                <a:tc>
                  <a:txBody>
                    <a:bodyPr/>
                    <a:lstStyle/>
                    <a:p>
                      <a:r>
                        <a:rPr sz="1400"/>
                        <a:t>1.24E+03</a:t>
                      </a:r>
                    </a:p>
                  </a:txBody>
                  <a:tcPr/>
                </a:tc>
                <a:tc>
                  <a:txBody>
                    <a:bodyPr/>
                    <a:lstStyle/>
                    <a:p>
                      <a:r>
                        <a:rPr sz="1400"/>
                        <a:t>1.60E+04</a:t>
                      </a:r>
                    </a:p>
                  </a:txBody>
                  <a:tcPr/>
                </a:tc>
                <a:tc>
                  <a:txBody>
                    <a:bodyPr/>
                    <a:lstStyle/>
                    <a:p>
                      <a:r>
                        <a:rPr sz="1400"/>
                        <a:t>9.73E+02</a:t>
                      </a:r>
                    </a:p>
                  </a:txBody>
                  <a:tcPr/>
                </a:tc>
              </a:tr>
              <a:tr h="0">
                <a:tc>
                  <a:txBody>
                    <a:bodyPr/>
                    <a:lstStyle/>
                    <a:p>
                      <a:r>
                        <a:rPr sz="1400"/>
                        <a:t>TQ 2.1</a:t>
                      </a:r>
                    </a:p>
                  </a:txBody>
                  <a:tcPr/>
                </a:tc>
                <a:tc>
                  <a:txBody>
                    <a:bodyPr/>
                    <a:lstStyle/>
                    <a:p>
                      <a:r>
                        <a:rPr sz="1400"/>
                        <a:t>5.53E-02</a:t>
                      </a:r>
                    </a:p>
                  </a:txBody>
                  <a:tcPr/>
                </a:tc>
                <a:tc>
                  <a:txBody>
                    <a:bodyPr/>
                    <a:lstStyle/>
                    <a:p>
                      <a:r>
                        <a:rPr sz="1400"/>
                        <a:t>4.14E-01</a:t>
                      </a:r>
                    </a:p>
                  </a:txBody>
                  <a:tcPr/>
                </a:tc>
                <a:tc>
                  <a:txBody>
                    <a:bodyPr/>
                    <a:lstStyle/>
                    <a:p>
                      <a:r>
                        <a:rPr sz="1400"/>
                        <a:t>7.01E-01</a:t>
                      </a:r>
                    </a:p>
                  </a:txBody>
                  <a:tcPr/>
                </a:tc>
                <a:tc>
                  <a:txBody>
                    <a:bodyPr/>
                    <a:lstStyle/>
                    <a:p>
                      <a:r>
                        <a:rPr sz="1400"/>
                        <a:t>4.06E-01</a:t>
                      </a:r>
                    </a:p>
                  </a:txBody>
                  <a:tcPr/>
                </a:tc>
                <a:tc>
                  <a:txBody>
                    <a:bodyPr/>
                    <a:lstStyle/>
                    <a:p>
                      <a:r>
                        <a:rPr sz="1400"/>
                        <a:t>3.02E-02</a:t>
                      </a:r>
                    </a:p>
                  </a:txBody>
                  <a:tcPr/>
                </a:tc>
                <a:tc>
                  <a:txBody>
                    <a:bodyPr/>
                    <a:lstStyle/>
                    <a:p>
                      <a:r>
                        <a:rPr sz="1400"/>
                        <a:t>4.53E-01</a:t>
                      </a:r>
                    </a:p>
                  </a:txBody>
                  <a:tcPr/>
                </a:tc>
                <a:tc>
                  <a:txBody>
                    <a:bodyPr/>
                    <a:lstStyle/>
                    <a:p>
                      <a:r>
                        <a:rPr sz="1400"/>
                        <a:t>7.29E-01</a:t>
                      </a:r>
                    </a:p>
                  </a:txBody>
                  <a:tcPr/>
                </a:tc>
                <a:tc>
                  <a:txBody>
                    <a:bodyPr/>
                    <a:lstStyle/>
                    <a:p>
                      <a:r>
                        <a:rPr sz="1400"/>
                        <a:t>4.25E-01</a:t>
                      </a:r>
                    </a:p>
                  </a:txBody>
                  <a:tcPr/>
                </a:tc>
              </a:tr>
              <a:tr h="0">
                <a:tc>
                  <a:txBody>
                    <a:bodyPr/>
                    <a:lstStyle/>
                    <a:p>
                      <a:r>
                        <a:rPr sz="1400"/>
                        <a:t>TQ 2.2</a:t>
                      </a:r>
                    </a:p>
                  </a:txBody>
                  <a:tcPr/>
                </a:tc>
                <a:tc>
                  <a:txBody>
                    <a:bodyPr/>
                    <a:lstStyle/>
                    <a:p>
                      <a:r>
                        <a:rPr sz="1400"/>
                        <a:t>7.69E-02</a:t>
                      </a:r>
                    </a:p>
                  </a:txBody>
                  <a:tcPr/>
                </a:tc>
                <a:tc>
                  <a:txBody>
                    <a:bodyPr/>
                    <a:lstStyle/>
                    <a:p>
                      <a:r>
                        <a:rPr sz="1400"/>
                        <a:t>2.31E-01</a:t>
                      </a:r>
                    </a:p>
                  </a:txBody>
                  <a:tcPr/>
                </a:tc>
                <a:tc>
                  <a:txBody>
                    <a:bodyPr/>
                    <a:lstStyle/>
                    <a:p>
                      <a:r>
                        <a:rPr sz="1400"/>
                        <a:t>5.51E-01</a:t>
                      </a:r>
                    </a:p>
                  </a:txBody>
                  <a:tcPr/>
                </a:tc>
                <a:tc>
                  <a:txBody>
                    <a:bodyPr/>
                    <a:lstStyle/>
                    <a:p>
                      <a:r>
                        <a:rPr sz="1400"/>
                        <a:t>2.63E-01</a:t>
                      </a:r>
                    </a:p>
                  </a:txBody>
                  <a:tcPr/>
                </a:tc>
                <a:tc>
                  <a:txBody>
                    <a:bodyPr/>
                    <a:lstStyle/>
                    <a:p>
                      <a:r>
                        <a:rPr sz="1400"/>
                        <a:t>7.58E-02</a:t>
                      </a:r>
                    </a:p>
                  </a:txBody>
                  <a:tcPr/>
                </a:tc>
                <a:tc>
                  <a:txBody>
                    <a:bodyPr/>
                    <a:lstStyle/>
                    <a:p>
                      <a:r>
                        <a:rPr sz="1400"/>
                        <a:t>2.25E-01</a:t>
                      </a:r>
                    </a:p>
                  </a:txBody>
                  <a:tcPr/>
                </a:tc>
                <a:tc>
                  <a:txBody>
                    <a:bodyPr/>
                    <a:lstStyle/>
                    <a:p>
                      <a:r>
                        <a:rPr sz="1400"/>
                        <a:t>5.71E-01</a:t>
                      </a:r>
                    </a:p>
                  </a:txBody>
                  <a:tcPr/>
                </a:tc>
                <a:tc>
                  <a:txBody>
                    <a:bodyPr/>
                    <a:lstStyle/>
                    <a:p>
                      <a:r>
                        <a:rPr sz="1400"/>
                        <a:t>2.61E-01</a:t>
                      </a:r>
                    </a:p>
                  </a:txBody>
                  <a:tcPr/>
                </a:tc>
              </a:tr>
              <a:tr h="1">
                <a:tc>
                  <a:txBody>
                    <a:bodyPr/>
                    <a:lstStyle/>
                    <a:p>
                      <a:r>
                        <a:rPr sz="1400"/>
                        <a:t>TQ 2.3</a:t>
                      </a:r>
                    </a:p>
                  </a:txBody>
                  <a:tcPr/>
                </a:tc>
                <a:tc>
                  <a:txBody>
                    <a:bodyPr/>
                    <a:lstStyle/>
                    <a:p>
                      <a:r>
                        <a:rPr sz="1400"/>
                        <a:t>7.28E-02</a:t>
                      </a:r>
                    </a:p>
                  </a:txBody>
                  <a:tcPr/>
                </a:tc>
                <a:tc>
                  <a:txBody>
                    <a:bodyPr/>
                    <a:lstStyle/>
                    <a:p>
                      <a:r>
                        <a:rPr sz="1400"/>
                        <a:t>3.16E-01</a:t>
                      </a:r>
                    </a:p>
                  </a:txBody>
                  <a:tcPr/>
                </a:tc>
                <a:tc>
                  <a:txBody>
                    <a:bodyPr/>
                    <a:lstStyle/>
                    <a:p>
                      <a:r>
                        <a:rPr sz="1400"/>
                        <a:t>6.41E-01</a:t>
                      </a:r>
                    </a:p>
                  </a:txBody>
                  <a:tcPr/>
                </a:tc>
                <a:tc>
                  <a:txBody>
                    <a:bodyPr/>
                    <a:lstStyle/>
                    <a:p>
                      <a:r>
                        <a:rPr sz="1400"/>
                        <a:t>3.31E-01</a:t>
                      </a:r>
                    </a:p>
                  </a:txBody>
                  <a:tcPr/>
                </a:tc>
                <a:tc>
                  <a:txBody>
                    <a:bodyPr/>
                    <a:lstStyle/>
                    <a:p>
                      <a:r>
                        <a:rPr sz="1400"/>
                        <a:t>6.56E-02</a:t>
                      </a:r>
                    </a:p>
                  </a:txBody>
                  <a:tcPr/>
                </a:tc>
                <a:tc>
                  <a:txBody>
                    <a:bodyPr/>
                    <a:lstStyle/>
                    <a:p>
                      <a:r>
                        <a:rPr sz="1400"/>
                        <a:t>2.83E-01</a:t>
                      </a:r>
                    </a:p>
                  </a:txBody>
                  <a:tcPr/>
                </a:tc>
                <a:tc>
                  <a:txBody>
                    <a:bodyPr/>
                    <a:lstStyle/>
                    <a:p>
                      <a:r>
                        <a:rPr sz="1400"/>
                        <a:t>6.57E-01</a:t>
                      </a:r>
                    </a:p>
                  </a:txBody>
                  <a:tcPr/>
                </a:tc>
                <a:tc>
                  <a:txBody>
                    <a:bodyPr/>
                    <a:lstStyle/>
                    <a:p>
                      <a:r>
                        <a:rPr sz="1400"/>
                        <a:t>3.15E-01</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Trend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trend_01.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Pie charts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ie_01.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Barplots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998"/>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1.91E+01</a:t>
                      </a:r>
                    </a:p>
                  </a:txBody>
                  <a:tcPr/>
                </a:tc>
                <a:tc>
                  <a:txBody>
                    <a:bodyPr/>
                    <a:lstStyle/>
                    <a:p>
                      <a:r>
                        <a:rPr sz="800"/>
                        <a:t>1.24E+03</a:t>
                      </a:r>
                    </a:p>
                  </a:txBody>
                  <a:tcPr/>
                </a:tc>
                <a:tc>
                  <a:txBody>
                    <a:bodyPr/>
                    <a:lstStyle/>
                    <a:p>
                      <a:r>
                        <a:rPr sz="800"/>
                        <a:t>1.60E+04</a:t>
                      </a:r>
                    </a:p>
                  </a:txBody>
                  <a:tcPr/>
                </a:tc>
                <a:tc>
                  <a:txBody>
                    <a:bodyPr/>
                    <a:lstStyle/>
                    <a:p>
                      <a:r>
                        <a:rPr sz="800"/>
                        <a:t>9.73E+02</a:t>
                      </a:r>
                    </a:p>
                  </a:txBody>
                  <a:tcPr/>
                </a:tc>
              </a:tr>
              <a:tr h="1">
                <a:tc>
                  <a:txBody>
                    <a:bodyPr/>
                    <a:lstStyle/>
                    <a:p>
                      <a:r>
                        <a:rPr sz="800"/>
                        <a:t>EW</a:t>
                      </a:r>
                    </a:p>
                  </a:txBody>
                  <a:tcPr/>
                </a:tc>
                <a:tc>
                  <a:txBody>
                    <a:bodyPr/>
                    <a:lstStyle/>
                    <a:p>
                      <a:r>
                        <a:rPr sz="800"/>
                        <a:t>2.32E+01</a:t>
                      </a:r>
                    </a:p>
                  </a:txBody>
                  <a:tcPr/>
                </a:tc>
                <a:tc>
                  <a:txBody>
                    <a:bodyPr/>
                    <a:lstStyle/>
                    <a:p>
                      <a:r>
                        <a:rPr sz="800"/>
                        <a:t>9.23E+02</a:t>
                      </a:r>
                    </a:p>
                  </a:txBody>
                  <a:tcPr/>
                </a:tc>
                <a:tc>
                  <a:txBody>
                    <a:bodyPr/>
                    <a:lstStyle/>
                    <a:p>
                      <a:r>
                        <a:rPr sz="800"/>
                        <a:t>1.24E+04</a:t>
                      </a:r>
                    </a:p>
                  </a:txBody>
                  <a:tcPr/>
                </a:tc>
                <a:tc>
                  <a:txBody>
                    <a:bodyPr/>
                    <a:lstStyle/>
                    <a:p>
                      <a:r>
                        <a:rPr sz="800"/>
                        <a:t>8.41E+02</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804"/>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3.02E-02</a:t>
                      </a:r>
                    </a:p>
                  </a:txBody>
                  <a:tcPr/>
                </a:tc>
                <a:tc>
                  <a:txBody>
                    <a:bodyPr/>
                    <a:lstStyle/>
                    <a:p>
                      <a:r>
                        <a:rPr sz="800"/>
                        <a:t>4.53E-01</a:t>
                      </a:r>
                    </a:p>
                  </a:txBody>
                  <a:tcPr/>
                </a:tc>
                <a:tc>
                  <a:txBody>
                    <a:bodyPr/>
                    <a:lstStyle/>
                    <a:p>
                      <a:r>
                        <a:rPr sz="800"/>
                        <a:t>7.29E-01</a:t>
                      </a:r>
                    </a:p>
                  </a:txBody>
                  <a:tcPr/>
                </a:tc>
                <a:tc>
                  <a:txBody>
                    <a:bodyPr/>
                    <a:lstStyle/>
                    <a:p>
                      <a:r>
                        <a:rPr sz="800"/>
                        <a:t>4.25E-01</a:t>
                      </a:r>
                    </a:p>
                  </a:txBody>
                  <a:tcPr/>
                </a:tc>
              </a:tr>
              <a:tr h="1">
                <a:tc>
                  <a:txBody>
                    <a:bodyPr/>
                    <a:lstStyle/>
                    <a:p>
                      <a:r>
                        <a:rPr sz="800"/>
                        <a:t>EW</a:t>
                      </a:r>
                    </a:p>
                  </a:txBody>
                  <a:tcPr/>
                </a:tc>
                <a:tc>
                  <a:txBody>
                    <a:bodyPr/>
                    <a:lstStyle/>
                    <a:p>
                      <a:r>
                        <a:rPr sz="800"/>
                        <a:t>5.53E-02</a:t>
                      </a:r>
                    </a:p>
                  </a:txBody>
                  <a:tcPr/>
                </a:tc>
                <a:tc>
                  <a:txBody>
                    <a:bodyPr/>
                    <a:lstStyle/>
                    <a:p>
                      <a:r>
                        <a:rPr sz="800"/>
                        <a:t>4.14E-01</a:t>
                      </a:r>
                    </a:p>
                  </a:txBody>
                  <a:tcPr/>
                </a:tc>
                <a:tc>
                  <a:txBody>
                    <a:bodyPr/>
                    <a:lstStyle/>
                    <a:p>
                      <a:r>
                        <a:rPr sz="800"/>
                        <a:t>7.01E-01</a:t>
                      </a:r>
                    </a:p>
                  </a:txBody>
                  <a:tcPr/>
                </a:tc>
                <a:tc>
                  <a:txBody>
                    <a:bodyPr/>
                    <a:lstStyle/>
                    <a:p>
                      <a:r>
                        <a:rPr sz="800"/>
                        <a:t>4.06E-01</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9"/>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7.58E-02</a:t>
                      </a:r>
                    </a:p>
                  </a:txBody>
                  <a:tcPr/>
                </a:tc>
                <a:tc>
                  <a:txBody>
                    <a:bodyPr/>
                    <a:lstStyle/>
                    <a:p>
                      <a:r>
                        <a:rPr sz="800"/>
                        <a:t>2.25E-01</a:t>
                      </a:r>
                    </a:p>
                  </a:txBody>
                  <a:tcPr/>
                </a:tc>
                <a:tc>
                  <a:txBody>
                    <a:bodyPr/>
                    <a:lstStyle/>
                    <a:p>
                      <a:r>
                        <a:rPr sz="800"/>
                        <a:t>5.71E-01</a:t>
                      </a:r>
                    </a:p>
                  </a:txBody>
                  <a:tcPr/>
                </a:tc>
                <a:tc>
                  <a:txBody>
                    <a:bodyPr/>
                    <a:lstStyle/>
                    <a:p>
                      <a:r>
                        <a:rPr sz="800"/>
                        <a:t>2.61E-01</a:t>
                      </a:r>
                    </a:p>
                  </a:txBody>
                  <a:tcPr/>
                </a:tc>
              </a:tr>
              <a:tr h="1">
                <a:tc>
                  <a:txBody>
                    <a:bodyPr/>
                    <a:lstStyle/>
                    <a:p>
                      <a:r>
                        <a:rPr sz="800"/>
                        <a:t>EW</a:t>
                      </a:r>
                    </a:p>
                  </a:txBody>
                  <a:tcPr/>
                </a:tc>
                <a:tc>
                  <a:txBody>
                    <a:bodyPr/>
                    <a:lstStyle/>
                    <a:p>
                      <a:r>
                        <a:rPr sz="800"/>
                        <a:t>7.69E-02</a:t>
                      </a:r>
                    </a:p>
                  </a:txBody>
                  <a:tcPr/>
                </a:tc>
                <a:tc>
                  <a:txBody>
                    <a:bodyPr/>
                    <a:lstStyle/>
                    <a:p>
                      <a:r>
                        <a:rPr sz="800"/>
                        <a:t>2.31E-01</a:t>
                      </a:r>
                    </a:p>
                  </a:txBody>
                  <a:tcPr/>
                </a:tc>
                <a:tc>
                  <a:txBody>
                    <a:bodyPr/>
                    <a:lstStyle/>
                    <a:p>
                      <a:r>
                        <a:rPr sz="800"/>
                        <a:t>5.51E-01</a:t>
                      </a:r>
                    </a:p>
                  </a:txBody>
                  <a:tcPr/>
                </a:tc>
                <a:tc>
                  <a:txBody>
                    <a:bodyPr/>
                    <a:lstStyle/>
                    <a:p>
                      <a:r>
                        <a:rPr sz="800"/>
                        <a:t>2.63E-01</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6"/>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6.56E-02</a:t>
                      </a:r>
                    </a:p>
                  </a:txBody>
                  <a:tcPr/>
                </a:tc>
                <a:tc>
                  <a:txBody>
                    <a:bodyPr/>
                    <a:lstStyle/>
                    <a:p>
                      <a:r>
                        <a:rPr sz="800"/>
                        <a:t>2.83E-01</a:t>
                      </a:r>
                    </a:p>
                  </a:txBody>
                  <a:tcPr/>
                </a:tc>
                <a:tc>
                  <a:txBody>
                    <a:bodyPr/>
                    <a:lstStyle/>
                    <a:p>
                      <a:r>
                        <a:rPr sz="800"/>
                        <a:t>6.57E-01</a:t>
                      </a:r>
                    </a:p>
                  </a:txBody>
                  <a:tcPr/>
                </a:tc>
                <a:tc>
                  <a:txBody>
                    <a:bodyPr/>
                    <a:lstStyle/>
                    <a:p>
                      <a:r>
                        <a:rPr sz="800"/>
                        <a:t>3.15E-01</a:t>
                      </a:r>
                    </a:p>
                  </a:txBody>
                  <a:tcPr/>
                </a:tc>
              </a:tr>
              <a:tr h="1">
                <a:tc>
                  <a:txBody>
                    <a:bodyPr/>
                    <a:lstStyle/>
                    <a:p>
                      <a:r>
                        <a:rPr sz="800"/>
                        <a:t>EW</a:t>
                      </a:r>
                    </a:p>
                  </a:txBody>
                  <a:tcPr/>
                </a:tc>
                <a:tc>
                  <a:txBody>
                    <a:bodyPr/>
                    <a:lstStyle/>
                    <a:p>
                      <a:r>
                        <a:rPr sz="800"/>
                        <a:t>7.28E-02</a:t>
                      </a:r>
                    </a:p>
                  </a:txBody>
                  <a:tcPr/>
                </a:tc>
                <a:tc>
                  <a:txBody>
                    <a:bodyPr/>
                    <a:lstStyle/>
                    <a:p>
                      <a:r>
                        <a:rPr sz="800"/>
                        <a:t>3.16E-01</a:t>
                      </a:r>
                    </a:p>
                  </a:txBody>
                  <a:tcPr/>
                </a:tc>
                <a:tc>
                  <a:txBody>
                    <a:bodyPr/>
                    <a:lstStyle/>
                    <a:p>
                      <a:r>
                        <a:rPr sz="800"/>
                        <a:t>6.41E-01</a:t>
                      </a:r>
                    </a:p>
                  </a:txBody>
                  <a:tcPr/>
                </a:tc>
                <a:tc>
                  <a:txBody>
                    <a:bodyPr/>
                    <a:lstStyle/>
                    <a:p>
                      <a:r>
                        <a:rPr sz="800"/>
                        <a:t>3.31E-01</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